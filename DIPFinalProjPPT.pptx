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6"/>
  </p:notesMasterIdLst>
  <p:handoutMasterIdLst>
    <p:handoutMasterId r:id="rId47"/>
  </p:handoutMasterIdLst>
  <p:sldIdLst>
    <p:sldId id="256" r:id="rId5"/>
    <p:sldId id="299" r:id="rId6"/>
    <p:sldId id="321" r:id="rId7"/>
    <p:sldId id="322" r:id="rId8"/>
    <p:sldId id="323" r:id="rId9"/>
    <p:sldId id="324" r:id="rId10"/>
    <p:sldId id="325" r:id="rId11"/>
    <p:sldId id="340" r:id="rId12"/>
    <p:sldId id="341" r:id="rId13"/>
    <p:sldId id="357" r:id="rId14"/>
    <p:sldId id="358" r:id="rId15"/>
    <p:sldId id="359" r:id="rId16"/>
    <p:sldId id="301" r:id="rId17"/>
    <p:sldId id="330" r:id="rId18"/>
    <p:sldId id="342" r:id="rId19"/>
    <p:sldId id="343" r:id="rId20"/>
    <p:sldId id="344" r:id="rId21"/>
    <p:sldId id="345" r:id="rId22"/>
    <p:sldId id="346" r:id="rId23"/>
    <p:sldId id="347" r:id="rId24"/>
    <p:sldId id="348" r:id="rId25"/>
    <p:sldId id="349" r:id="rId26"/>
    <p:sldId id="350" r:id="rId27"/>
    <p:sldId id="351" r:id="rId28"/>
    <p:sldId id="361" r:id="rId29"/>
    <p:sldId id="362" r:id="rId30"/>
    <p:sldId id="352" r:id="rId31"/>
    <p:sldId id="353" r:id="rId32"/>
    <p:sldId id="355" r:id="rId33"/>
    <p:sldId id="354" r:id="rId34"/>
    <p:sldId id="356" r:id="rId35"/>
    <p:sldId id="334" r:id="rId36"/>
    <p:sldId id="335" r:id="rId37"/>
    <p:sldId id="336" r:id="rId38"/>
    <p:sldId id="337" r:id="rId39"/>
    <p:sldId id="338" r:id="rId40"/>
    <p:sldId id="339" r:id="rId41"/>
    <p:sldId id="331" r:id="rId42"/>
    <p:sldId id="360" r:id="rId43"/>
    <p:sldId id="320" r:id="rId44"/>
    <p:sldId id="29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81" autoAdjust="0"/>
    <p:restoredTop sz="95646" autoAdjust="0"/>
  </p:normalViewPr>
  <p:slideViewPr>
    <p:cSldViewPr snapToGrid="0">
      <p:cViewPr varScale="1">
        <p:scale>
          <a:sx n="102" d="100"/>
          <a:sy n="102" d="100"/>
        </p:scale>
        <p:origin x="480" y="80"/>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0EE352-53B2-4A4D-B9FD-9B23B0CA100F}" type="doc">
      <dgm:prSet loTypeId="urn:microsoft.com/office/officeart/2005/8/layout/chevron1" loCatId="process" qsTypeId="urn:microsoft.com/office/officeart/2005/8/quickstyle/simple1" qsCatId="simple" csTypeId="urn:microsoft.com/office/officeart/2005/8/colors/accent1_2" csCatId="accent1" phldr="1"/>
      <dgm:spPr/>
    </dgm:pt>
    <dgm:pt modelId="{69C04036-B2C0-4396-8187-B4356925C858}">
      <dgm:prSet phldrT="[Text]"/>
      <dgm:spPr/>
      <dgm:t>
        <a:bodyPr/>
        <a:lstStyle/>
        <a:p>
          <a:r>
            <a:rPr lang="en-IN" dirty="0"/>
            <a:t>Load two images</a:t>
          </a:r>
        </a:p>
      </dgm:t>
    </dgm:pt>
    <dgm:pt modelId="{4DF3A9AE-BD86-4CD9-8343-4BF1F6038232}" type="parTrans" cxnId="{7C633B7B-308E-4992-8858-3C0A61056171}">
      <dgm:prSet/>
      <dgm:spPr/>
      <dgm:t>
        <a:bodyPr/>
        <a:lstStyle/>
        <a:p>
          <a:endParaRPr lang="en-IN"/>
        </a:p>
      </dgm:t>
    </dgm:pt>
    <dgm:pt modelId="{DAEA49B6-0832-44C2-BD40-5F3E10CC3099}" type="sibTrans" cxnId="{7C633B7B-308E-4992-8858-3C0A61056171}">
      <dgm:prSet/>
      <dgm:spPr/>
      <dgm:t>
        <a:bodyPr/>
        <a:lstStyle/>
        <a:p>
          <a:endParaRPr lang="en-IN"/>
        </a:p>
      </dgm:t>
    </dgm:pt>
    <dgm:pt modelId="{1CA4DFC9-F12E-4F39-8A4A-E4BB5D91A703}">
      <dgm:prSet phldrT="[Text]"/>
      <dgm:spPr/>
      <dgm:t>
        <a:bodyPr/>
        <a:lstStyle/>
        <a:p>
          <a:r>
            <a:rPr lang="en-IN" dirty="0"/>
            <a:t>Extract ORB features</a:t>
          </a:r>
        </a:p>
      </dgm:t>
    </dgm:pt>
    <dgm:pt modelId="{9C7E206C-B566-4413-8CCC-42F67E7C4176}" type="parTrans" cxnId="{C8907262-BAC8-4053-96FE-7A63EF2612F1}">
      <dgm:prSet/>
      <dgm:spPr/>
      <dgm:t>
        <a:bodyPr/>
        <a:lstStyle/>
        <a:p>
          <a:endParaRPr lang="en-IN"/>
        </a:p>
      </dgm:t>
    </dgm:pt>
    <dgm:pt modelId="{44047AE9-FB7C-4D2C-AA25-4941F9EF07FF}" type="sibTrans" cxnId="{C8907262-BAC8-4053-96FE-7A63EF2612F1}">
      <dgm:prSet/>
      <dgm:spPr/>
      <dgm:t>
        <a:bodyPr/>
        <a:lstStyle/>
        <a:p>
          <a:endParaRPr lang="en-IN"/>
        </a:p>
      </dgm:t>
    </dgm:pt>
    <dgm:pt modelId="{6879C556-504F-463F-9079-1B27637BEE1C}">
      <dgm:prSet phldrT="[Text]"/>
      <dgm:spPr/>
      <dgm:t>
        <a:bodyPr/>
        <a:lstStyle/>
        <a:p>
          <a:r>
            <a:rPr lang="en-IN" dirty="0"/>
            <a:t>Match descriptors using BFM</a:t>
          </a:r>
        </a:p>
      </dgm:t>
    </dgm:pt>
    <dgm:pt modelId="{437B29C5-3088-4727-9BB1-E82BA1F3A319}" type="parTrans" cxnId="{659AB3A1-1C16-4C9B-9F1B-FB9866A4F5F5}">
      <dgm:prSet/>
      <dgm:spPr/>
      <dgm:t>
        <a:bodyPr/>
        <a:lstStyle/>
        <a:p>
          <a:endParaRPr lang="en-IN"/>
        </a:p>
      </dgm:t>
    </dgm:pt>
    <dgm:pt modelId="{7641A227-FF3F-4EE0-B0BC-1F82BCFD028B}" type="sibTrans" cxnId="{659AB3A1-1C16-4C9B-9F1B-FB9866A4F5F5}">
      <dgm:prSet/>
      <dgm:spPr/>
      <dgm:t>
        <a:bodyPr/>
        <a:lstStyle/>
        <a:p>
          <a:endParaRPr lang="en-IN"/>
        </a:p>
      </dgm:t>
    </dgm:pt>
    <dgm:pt modelId="{F14CD9DD-DD45-4A9F-B1C7-350CA561ECC5}">
      <dgm:prSet phldrT="[Text]"/>
      <dgm:spPr/>
      <dgm:t>
        <a:bodyPr/>
        <a:lstStyle/>
        <a:p>
          <a:r>
            <a:rPr lang="en-IN" dirty="0"/>
            <a:t>Visualise top matches</a:t>
          </a:r>
        </a:p>
      </dgm:t>
    </dgm:pt>
    <dgm:pt modelId="{1C0D98F4-06D8-4E3A-A59E-E479198EE378}" type="parTrans" cxnId="{00E7AC90-3F94-4C81-BF9D-C39AE7547C16}">
      <dgm:prSet/>
      <dgm:spPr/>
      <dgm:t>
        <a:bodyPr/>
        <a:lstStyle/>
        <a:p>
          <a:endParaRPr lang="en-IN"/>
        </a:p>
      </dgm:t>
    </dgm:pt>
    <dgm:pt modelId="{F5968327-9A97-4FC0-8E2D-FD6288BDDAE0}" type="sibTrans" cxnId="{00E7AC90-3F94-4C81-BF9D-C39AE7547C16}">
      <dgm:prSet/>
      <dgm:spPr/>
      <dgm:t>
        <a:bodyPr/>
        <a:lstStyle/>
        <a:p>
          <a:endParaRPr lang="en-IN"/>
        </a:p>
      </dgm:t>
    </dgm:pt>
    <dgm:pt modelId="{B9A47C20-D90E-4C8C-B95D-EA4752C16E26}">
      <dgm:prSet phldrT="[Text]"/>
      <dgm:spPr/>
      <dgm:t>
        <a:bodyPr/>
        <a:lstStyle/>
        <a:p>
          <a:r>
            <a:rPr lang="en-IN" dirty="0"/>
            <a:t>Clustering with DBSCAN</a:t>
          </a:r>
        </a:p>
      </dgm:t>
    </dgm:pt>
    <dgm:pt modelId="{EBB29F65-D5E2-4A47-B6B0-207EE19594C9}" type="parTrans" cxnId="{1D4AAAA5-8771-41F7-98A6-79B93F943259}">
      <dgm:prSet/>
      <dgm:spPr/>
      <dgm:t>
        <a:bodyPr/>
        <a:lstStyle/>
        <a:p>
          <a:endParaRPr lang="en-IN"/>
        </a:p>
      </dgm:t>
    </dgm:pt>
    <dgm:pt modelId="{287C391F-3830-4D12-962B-6AEAB0AC337E}" type="sibTrans" cxnId="{1D4AAAA5-8771-41F7-98A6-79B93F943259}">
      <dgm:prSet/>
      <dgm:spPr/>
      <dgm:t>
        <a:bodyPr/>
        <a:lstStyle/>
        <a:p>
          <a:endParaRPr lang="en-IN"/>
        </a:p>
      </dgm:t>
    </dgm:pt>
    <dgm:pt modelId="{DEE86564-1D1B-4F1D-87A1-5A46B741400E}" type="pres">
      <dgm:prSet presAssocID="{7B0EE352-53B2-4A4D-B9FD-9B23B0CA100F}" presName="Name0" presStyleCnt="0">
        <dgm:presLayoutVars>
          <dgm:dir/>
          <dgm:animLvl val="lvl"/>
          <dgm:resizeHandles val="exact"/>
        </dgm:presLayoutVars>
      </dgm:prSet>
      <dgm:spPr/>
    </dgm:pt>
    <dgm:pt modelId="{FD2A0A5E-BB9C-49FD-9E60-22F11CAF816A}" type="pres">
      <dgm:prSet presAssocID="{69C04036-B2C0-4396-8187-B4356925C858}" presName="parTxOnly" presStyleLbl="node1" presStyleIdx="0" presStyleCnt="5">
        <dgm:presLayoutVars>
          <dgm:chMax val="0"/>
          <dgm:chPref val="0"/>
          <dgm:bulletEnabled val="1"/>
        </dgm:presLayoutVars>
      </dgm:prSet>
      <dgm:spPr/>
    </dgm:pt>
    <dgm:pt modelId="{CB107DEF-DFA7-4AC4-8E85-299F7FD3F4C4}" type="pres">
      <dgm:prSet presAssocID="{DAEA49B6-0832-44C2-BD40-5F3E10CC3099}" presName="parTxOnlySpace" presStyleCnt="0"/>
      <dgm:spPr/>
    </dgm:pt>
    <dgm:pt modelId="{818B1376-623E-4860-8A4F-2BA4FF3D42B0}" type="pres">
      <dgm:prSet presAssocID="{1CA4DFC9-F12E-4F39-8A4A-E4BB5D91A703}" presName="parTxOnly" presStyleLbl="node1" presStyleIdx="1" presStyleCnt="5">
        <dgm:presLayoutVars>
          <dgm:chMax val="0"/>
          <dgm:chPref val="0"/>
          <dgm:bulletEnabled val="1"/>
        </dgm:presLayoutVars>
      </dgm:prSet>
      <dgm:spPr/>
    </dgm:pt>
    <dgm:pt modelId="{B0A8760B-375D-4CD1-96E1-7E8A04067357}" type="pres">
      <dgm:prSet presAssocID="{44047AE9-FB7C-4D2C-AA25-4941F9EF07FF}" presName="parTxOnlySpace" presStyleCnt="0"/>
      <dgm:spPr/>
    </dgm:pt>
    <dgm:pt modelId="{71C079C4-9C51-46A4-A388-339C237736DE}" type="pres">
      <dgm:prSet presAssocID="{6879C556-504F-463F-9079-1B27637BEE1C}" presName="parTxOnly" presStyleLbl="node1" presStyleIdx="2" presStyleCnt="5">
        <dgm:presLayoutVars>
          <dgm:chMax val="0"/>
          <dgm:chPref val="0"/>
          <dgm:bulletEnabled val="1"/>
        </dgm:presLayoutVars>
      </dgm:prSet>
      <dgm:spPr/>
    </dgm:pt>
    <dgm:pt modelId="{8753D404-31DB-4AA7-8991-B20C6CA7AC87}" type="pres">
      <dgm:prSet presAssocID="{7641A227-FF3F-4EE0-B0BC-1F82BCFD028B}" presName="parTxOnlySpace" presStyleCnt="0"/>
      <dgm:spPr/>
    </dgm:pt>
    <dgm:pt modelId="{BFE4CA6E-B6C3-47AC-8C47-2BA4B611E0B1}" type="pres">
      <dgm:prSet presAssocID="{F14CD9DD-DD45-4A9F-B1C7-350CA561ECC5}" presName="parTxOnly" presStyleLbl="node1" presStyleIdx="3" presStyleCnt="5">
        <dgm:presLayoutVars>
          <dgm:chMax val="0"/>
          <dgm:chPref val="0"/>
          <dgm:bulletEnabled val="1"/>
        </dgm:presLayoutVars>
      </dgm:prSet>
      <dgm:spPr/>
    </dgm:pt>
    <dgm:pt modelId="{D2257351-BDE4-406F-99BA-77D959D63D7C}" type="pres">
      <dgm:prSet presAssocID="{F5968327-9A97-4FC0-8E2D-FD6288BDDAE0}" presName="parTxOnlySpace" presStyleCnt="0"/>
      <dgm:spPr/>
    </dgm:pt>
    <dgm:pt modelId="{B40CF11D-6856-44E2-97C7-80B6902693A5}" type="pres">
      <dgm:prSet presAssocID="{B9A47C20-D90E-4C8C-B95D-EA4752C16E26}" presName="parTxOnly" presStyleLbl="node1" presStyleIdx="4" presStyleCnt="5">
        <dgm:presLayoutVars>
          <dgm:chMax val="0"/>
          <dgm:chPref val="0"/>
          <dgm:bulletEnabled val="1"/>
        </dgm:presLayoutVars>
      </dgm:prSet>
      <dgm:spPr/>
    </dgm:pt>
  </dgm:ptLst>
  <dgm:cxnLst>
    <dgm:cxn modelId="{F8008D1D-9D06-4A85-B210-389F161E5EE9}" type="presOf" srcId="{6879C556-504F-463F-9079-1B27637BEE1C}" destId="{71C079C4-9C51-46A4-A388-339C237736DE}" srcOrd="0" destOrd="0" presId="urn:microsoft.com/office/officeart/2005/8/layout/chevron1"/>
    <dgm:cxn modelId="{9B0BC229-D334-4FD2-B1DB-037B1F068841}" type="presOf" srcId="{B9A47C20-D90E-4C8C-B95D-EA4752C16E26}" destId="{B40CF11D-6856-44E2-97C7-80B6902693A5}" srcOrd="0" destOrd="0" presId="urn:microsoft.com/office/officeart/2005/8/layout/chevron1"/>
    <dgm:cxn modelId="{C8907262-BAC8-4053-96FE-7A63EF2612F1}" srcId="{7B0EE352-53B2-4A4D-B9FD-9B23B0CA100F}" destId="{1CA4DFC9-F12E-4F39-8A4A-E4BB5D91A703}" srcOrd="1" destOrd="0" parTransId="{9C7E206C-B566-4413-8CCC-42F67E7C4176}" sibTransId="{44047AE9-FB7C-4D2C-AA25-4941F9EF07FF}"/>
    <dgm:cxn modelId="{81047257-5411-452E-848D-900C54019BFB}" type="presOf" srcId="{7B0EE352-53B2-4A4D-B9FD-9B23B0CA100F}" destId="{DEE86564-1D1B-4F1D-87A1-5A46B741400E}" srcOrd="0" destOrd="0" presId="urn:microsoft.com/office/officeart/2005/8/layout/chevron1"/>
    <dgm:cxn modelId="{7C633B7B-308E-4992-8858-3C0A61056171}" srcId="{7B0EE352-53B2-4A4D-B9FD-9B23B0CA100F}" destId="{69C04036-B2C0-4396-8187-B4356925C858}" srcOrd="0" destOrd="0" parTransId="{4DF3A9AE-BD86-4CD9-8343-4BF1F6038232}" sibTransId="{DAEA49B6-0832-44C2-BD40-5F3E10CC3099}"/>
    <dgm:cxn modelId="{00E7AC90-3F94-4C81-BF9D-C39AE7547C16}" srcId="{7B0EE352-53B2-4A4D-B9FD-9B23B0CA100F}" destId="{F14CD9DD-DD45-4A9F-B1C7-350CA561ECC5}" srcOrd="3" destOrd="0" parTransId="{1C0D98F4-06D8-4E3A-A59E-E479198EE378}" sibTransId="{F5968327-9A97-4FC0-8E2D-FD6288BDDAE0}"/>
    <dgm:cxn modelId="{659AB3A1-1C16-4C9B-9F1B-FB9866A4F5F5}" srcId="{7B0EE352-53B2-4A4D-B9FD-9B23B0CA100F}" destId="{6879C556-504F-463F-9079-1B27637BEE1C}" srcOrd="2" destOrd="0" parTransId="{437B29C5-3088-4727-9BB1-E82BA1F3A319}" sibTransId="{7641A227-FF3F-4EE0-B0BC-1F82BCFD028B}"/>
    <dgm:cxn modelId="{1D4AAAA5-8771-41F7-98A6-79B93F943259}" srcId="{7B0EE352-53B2-4A4D-B9FD-9B23B0CA100F}" destId="{B9A47C20-D90E-4C8C-B95D-EA4752C16E26}" srcOrd="4" destOrd="0" parTransId="{EBB29F65-D5E2-4A47-B6B0-207EE19594C9}" sibTransId="{287C391F-3830-4D12-962B-6AEAB0AC337E}"/>
    <dgm:cxn modelId="{226EA4B6-C139-42F2-B46F-163BFA5DF497}" type="presOf" srcId="{69C04036-B2C0-4396-8187-B4356925C858}" destId="{FD2A0A5E-BB9C-49FD-9E60-22F11CAF816A}" srcOrd="0" destOrd="0" presId="urn:microsoft.com/office/officeart/2005/8/layout/chevron1"/>
    <dgm:cxn modelId="{3AEC32C7-E793-4779-91E5-11AE781B048B}" type="presOf" srcId="{F14CD9DD-DD45-4A9F-B1C7-350CA561ECC5}" destId="{BFE4CA6E-B6C3-47AC-8C47-2BA4B611E0B1}" srcOrd="0" destOrd="0" presId="urn:microsoft.com/office/officeart/2005/8/layout/chevron1"/>
    <dgm:cxn modelId="{6E8D98D6-878C-4F94-91D7-CF4E4727BBE6}" type="presOf" srcId="{1CA4DFC9-F12E-4F39-8A4A-E4BB5D91A703}" destId="{818B1376-623E-4860-8A4F-2BA4FF3D42B0}" srcOrd="0" destOrd="0" presId="urn:microsoft.com/office/officeart/2005/8/layout/chevron1"/>
    <dgm:cxn modelId="{F70A386F-4B6A-4737-94C9-577F34B503C4}" type="presParOf" srcId="{DEE86564-1D1B-4F1D-87A1-5A46B741400E}" destId="{FD2A0A5E-BB9C-49FD-9E60-22F11CAF816A}" srcOrd="0" destOrd="0" presId="urn:microsoft.com/office/officeart/2005/8/layout/chevron1"/>
    <dgm:cxn modelId="{86F69D68-00F5-4B2C-90D4-722C53D9AAA9}" type="presParOf" srcId="{DEE86564-1D1B-4F1D-87A1-5A46B741400E}" destId="{CB107DEF-DFA7-4AC4-8E85-299F7FD3F4C4}" srcOrd="1" destOrd="0" presId="urn:microsoft.com/office/officeart/2005/8/layout/chevron1"/>
    <dgm:cxn modelId="{232062C2-A6A7-4955-8637-C193E4075A74}" type="presParOf" srcId="{DEE86564-1D1B-4F1D-87A1-5A46B741400E}" destId="{818B1376-623E-4860-8A4F-2BA4FF3D42B0}" srcOrd="2" destOrd="0" presId="urn:microsoft.com/office/officeart/2005/8/layout/chevron1"/>
    <dgm:cxn modelId="{13BB156F-C154-4597-AF92-C96BC580D57E}" type="presParOf" srcId="{DEE86564-1D1B-4F1D-87A1-5A46B741400E}" destId="{B0A8760B-375D-4CD1-96E1-7E8A04067357}" srcOrd="3" destOrd="0" presId="urn:microsoft.com/office/officeart/2005/8/layout/chevron1"/>
    <dgm:cxn modelId="{BE9273BA-80A9-4EDE-8A53-1C741AE295B9}" type="presParOf" srcId="{DEE86564-1D1B-4F1D-87A1-5A46B741400E}" destId="{71C079C4-9C51-46A4-A388-339C237736DE}" srcOrd="4" destOrd="0" presId="urn:microsoft.com/office/officeart/2005/8/layout/chevron1"/>
    <dgm:cxn modelId="{943313C3-7D7E-4D5B-938E-2059D39F4F1B}" type="presParOf" srcId="{DEE86564-1D1B-4F1D-87A1-5A46B741400E}" destId="{8753D404-31DB-4AA7-8991-B20C6CA7AC87}" srcOrd="5" destOrd="0" presId="urn:microsoft.com/office/officeart/2005/8/layout/chevron1"/>
    <dgm:cxn modelId="{B0501A79-FC49-44F1-BE3E-5DA90E8EADE1}" type="presParOf" srcId="{DEE86564-1D1B-4F1D-87A1-5A46B741400E}" destId="{BFE4CA6E-B6C3-47AC-8C47-2BA4B611E0B1}" srcOrd="6" destOrd="0" presId="urn:microsoft.com/office/officeart/2005/8/layout/chevron1"/>
    <dgm:cxn modelId="{94042B85-0A26-43B5-A364-0063358EF5FA}" type="presParOf" srcId="{DEE86564-1D1B-4F1D-87A1-5A46B741400E}" destId="{D2257351-BDE4-406F-99BA-77D959D63D7C}" srcOrd="7" destOrd="0" presId="urn:microsoft.com/office/officeart/2005/8/layout/chevron1"/>
    <dgm:cxn modelId="{AF39DCA2-6343-465E-B8F9-1C6B1959B371}" type="presParOf" srcId="{DEE86564-1D1B-4F1D-87A1-5A46B741400E}" destId="{B40CF11D-6856-44E2-97C7-80B6902693A5}"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A0A5E-BB9C-49FD-9E60-22F11CAF816A}">
      <dsp:nvSpPr>
        <dsp:cNvPr id="0" name=""/>
        <dsp:cNvSpPr/>
      </dsp:nvSpPr>
      <dsp:spPr>
        <a:xfrm>
          <a:off x="2740" y="2811577"/>
          <a:ext cx="2439416" cy="975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Load two images</a:t>
          </a:r>
        </a:p>
      </dsp:txBody>
      <dsp:txXfrm>
        <a:off x="490623" y="2811577"/>
        <a:ext cx="1463650" cy="975766"/>
      </dsp:txXfrm>
    </dsp:sp>
    <dsp:sp modelId="{818B1376-623E-4860-8A4F-2BA4FF3D42B0}">
      <dsp:nvSpPr>
        <dsp:cNvPr id="0" name=""/>
        <dsp:cNvSpPr/>
      </dsp:nvSpPr>
      <dsp:spPr>
        <a:xfrm>
          <a:off x="2198216" y="2811577"/>
          <a:ext cx="2439416" cy="975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Extract ORB features</a:t>
          </a:r>
        </a:p>
      </dsp:txBody>
      <dsp:txXfrm>
        <a:off x="2686099" y="2811577"/>
        <a:ext cx="1463650" cy="975766"/>
      </dsp:txXfrm>
    </dsp:sp>
    <dsp:sp modelId="{71C079C4-9C51-46A4-A388-339C237736DE}">
      <dsp:nvSpPr>
        <dsp:cNvPr id="0" name=""/>
        <dsp:cNvSpPr/>
      </dsp:nvSpPr>
      <dsp:spPr>
        <a:xfrm>
          <a:off x="4393691" y="2811577"/>
          <a:ext cx="2439416" cy="975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Match descriptors using BFM</a:t>
          </a:r>
        </a:p>
      </dsp:txBody>
      <dsp:txXfrm>
        <a:off x="4881574" y="2811577"/>
        <a:ext cx="1463650" cy="975766"/>
      </dsp:txXfrm>
    </dsp:sp>
    <dsp:sp modelId="{BFE4CA6E-B6C3-47AC-8C47-2BA4B611E0B1}">
      <dsp:nvSpPr>
        <dsp:cNvPr id="0" name=""/>
        <dsp:cNvSpPr/>
      </dsp:nvSpPr>
      <dsp:spPr>
        <a:xfrm>
          <a:off x="6589166" y="2811577"/>
          <a:ext cx="2439416" cy="975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Visualise top matches</a:t>
          </a:r>
        </a:p>
      </dsp:txBody>
      <dsp:txXfrm>
        <a:off x="7077049" y="2811577"/>
        <a:ext cx="1463650" cy="975766"/>
      </dsp:txXfrm>
    </dsp:sp>
    <dsp:sp modelId="{B40CF11D-6856-44E2-97C7-80B6902693A5}">
      <dsp:nvSpPr>
        <dsp:cNvPr id="0" name=""/>
        <dsp:cNvSpPr/>
      </dsp:nvSpPr>
      <dsp:spPr>
        <a:xfrm>
          <a:off x="8784642" y="2811577"/>
          <a:ext cx="2439416" cy="97576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IN" sz="2200" kern="1200" dirty="0"/>
            <a:t>Clustering with DBSCAN</a:t>
          </a:r>
        </a:p>
      </dsp:txBody>
      <dsp:txXfrm>
        <a:off x="9272525" y="2811577"/>
        <a:ext cx="1463650" cy="97576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5/16/2025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5/16/2025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41</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59" r:id="rId4"/>
    <p:sldLayoutId id="2147483668" r:id="rId5"/>
    <p:sldLayoutId id="2147483669" r:id="rId6"/>
    <p:sldLayoutId id="2147483676" r:id="rId7"/>
    <p:sldLayoutId id="2147483661" r:id="rId8"/>
    <p:sldLayoutId id="2147483666" r:id="rId9"/>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competitions/image-matching-challenge-2025/overview"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pPr algn="ctr"/>
            <a:r>
              <a:rPr lang="en-US" sz="2400" b="0" dirty="0"/>
              <a:t>CS517 Digital Image Processing </a:t>
            </a:r>
            <a:r>
              <a:rPr lang="en-US" sz="2400" b="0" dirty="0" err="1"/>
              <a:t>EndTerm</a:t>
            </a:r>
            <a:r>
              <a:rPr lang="en-US" sz="2400" b="0" dirty="0"/>
              <a:t> Project</a:t>
            </a:r>
            <a:br>
              <a:rPr lang="en-US" sz="2400" dirty="0"/>
            </a:br>
            <a:r>
              <a:rPr lang="en-US" sz="2400" dirty="0"/>
              <a:t>Image Matching Challenge</a:t>
            </a:r>
            <a:r>
              <a:rPr lang="en-US" dirty="0"/>
              <a:t> </a:t>
            </a:r>
          </a:p>
        </p:txBody>
      </p:sp>
      <p:sp>
        <p:nvSpPr>
          <p:cNvPr id="4" name="TextBox 3">
            <a:extLst>
              <a:ext uri="{FF2B5EF4-FFF2-40B4-BE49-F238E27FC236}">
                <a16:creationId xmlns:a16="http://schemas.microsoft.com/office/drawing/2014/main" id="{75F44EDE-9C6B-2BA8-759D-B702CEF64C90}"/>
              </a:ext>
            </a:extLst>
          </p:cNvPr>
          <p:cNvSpPr txBox="1"/>
          <p:nvPr/>
        </p:nvSpPr>
        <p:spPr>
          <a:xfrm>
            <a:off x="2210843" y="6167085"/>
            <a:ext cx="3783921" cy="646331"/>
          </a:xfrm>
          <a:prstGeom prst="rect">
            <a:avLst/>
          </a:prstGeom>
          <a:noFill/>
        </p:spPr>
        <p:txBody>
          <a:bodyPr wrap="none" rtlCol="0">
            <a:spAutoFit/>
          </a:bodyPr>
          <a:lstStyle/>
          <a:p>
            <a:r>
              <a:rPr lang="en-IN" dirty="0"/>
              <a:t>Dr. Puneet Goyal</a:t>
            </a:r>
          </a:p>
          <a:p>
            <a:r>
              <a:rPr lang="en-IN" dirty="0"/>
              <a:t>Indian Institute of Technology Ropar</a:t>
            </a:r>
          </a:p>
        </p:txBody>
      </p:sp>
      <p:sp>
        <p:nvSpPr>
          <p:cNvPr id="5" name="TextBox 4">
            <a:extLst>
              <a:ext uri="{FF2B5EF4-FFF2-40B4-BE49-F238E27FC236}">
                <a16:creationId xmlns:a16="http://schemas.microsoft.com/office/drawing/2014/main" id="{5589DDD3-173A-F6E8-B52E-EB2EA8B765EB}"/>
              </a:ext>
            </a:extLst>
          </p:cNvPr>
          <p:cNvSpPr txBox="1"/>
          <p:nvPr/>
        </p:nvSpPr>
        <p:spPr>
          <a:xfrm>
            <a:off x="9012477" y="5336088"/>
            <a:ext cx="1812419" cy="923330"/>
          </a:xfrm>
          <a:prstGeom prst="rect">
            <a:avLst/>
          </a:prstGeom>
          <a:noFill/>
        </p:spPr>
        <p:txBody>
          <a:bodyPr wrap="none" rtlCol="0">
            <a:spAutoFit/>
          </a:bodyPr>
          <a:lstStyle/>
          <a:p>
            <a:r>
              <a:rPr lang="en-IN" b="1" dirty="0"/>
              <a:t>Team Members:</a:t>
            </a:r>
          </a:p>
          <a:p>
            <a:r>
              <a:rPr lang="en-IN" dirty="0"/>
              <a:t>Jai Anurag Y</a:t>
            </a:r>
          </a:p>
          <a:p>
            <a:r>
              <a:rPr lang="en-IN" dirty="0"/>
              <a:t>Vaibhav Singla</a:t>
            </a:r>
          </a:p>
        </p:txBody>
      </p:sp>
      <p:pic>
        <p:nvPicPr>
          <p:cNvPr id="8" name="Picture Placeholder 9">
            <a:extLst>
              <a:ext uri="{FF2B5EF4-FFF2-40B4-BE49-F238E27FC236}">
                <a16:creationId xmlns:a16="http://schemas.microsoft.com/office/drawing/2014/main" id="{AD83E98B-C1AB-0DE5-6C6A-35238BA3F08E}"/>
              </a:ext>
            </a:extLst>
          </p:cNvPr>
          <p:cNvPicPr>
            <a:picLocks noChangeAspect="1"/>
          </p:cNvPicPr>
          <p:nvPr/>
        </p:nvPicPr>
        <p:blipFill>
          <a:blip r:embed="rId3"/>
          <a:srcRect l="1268" r="1268"/>
          <a:stretch/>
        </p:blipFill>
        <p:spPr>
          <a:xfrm>
            <a:off x="556304" y="4941704"/>
            <a:ext cx="1621600" cy="1629036"/>
          </a:xfrm>
          <a:prstGeom prst="ellipse">
            <a:avLst/>
          </a:pr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64ED1-3020-ED63-AF26-610E6AA33893}"/>
              </a:ext>
            </a:extLst>
          </p:cNvPr>
          <p:cNvSpPr>
            <a:spLocks noGrp="1"/>
          </p:cNvSpPr>
          <p:nvPr>
            <p:ph type="title"/>
          </p:nvPr>
        </p:nvSpPr>
        <p:spPr>
          <a:xfrm>
            <a:off x="207141" y="259079"/>
            <a:ext cx="5486398" cy="868679"/>
          </a:xfrm>
        </p:spPr>
        <p:txBody>
          <a:bodyPr/>
          <a:lstStyle/>
          <a:p>
            <a:r>
              <a:rPr lang="en-IN" dirty="0"/>
              <a:t>References</a:t>
            </a:r>
          </a:p>
        </p:txBody>
      </p:sp>
      <p:sp>
        <p:nvSpPr>
          <p:cNvPr id="11" name="Rectangle 4">
            <a:extLst>
              <a:ext uri="{FF2B5EF4-FFF2-40B4-BE49-F238E27FC236}">
                <a16:creationId xmlns:a16="http://schemas.microsoft.com/office/drawing/2014/main" id="{245E15AE-736E-5741-4357-079161353B74}"/>
              </a:ext>
            </a:extLst>
          </p:cNvPr>
          <p:cNvSpPr>
            <a:spLocks noChangeArrowheads="1"/>
          </p:cNvSpPr>
          <p:nvPr/>
        </p:nvSpPr>
        <p:spPr bwMode="auto">
          <a:xfrm>
            <a:off x="557659" y="2204234"/>
            <a:ext cx="1061326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t>Research Paper / Project:</a:t>
            </a:r>
          </a:p>
          <a:p>
            <a:pPr marL="800100" lvl="1" indent="-342900" eaLnBrk="0" fontAlgn="base" hangingPunct="0">
              <a:spcBef>
                <a:spcPct val="0"/>
              </a:spcBef>
              <a:spcAft>
                <a:spcPct val="0"/>
              </a:spcAft>
              <a:buFont typeface="Arial" panose="020B0604020202020204" pitchFamily="34" charset="0"/>
              <a:buChar char="•"/>
            </a:pPr>
            <a:r>
              <a:rPr lang="en-US" sz="2000" dirty="0"/>
              <a:t>ORB: Rublee et al., "ORB: An efficient alternative to SIFT or SURF", ICCV 2011</a:t>
            </a:r>
          </a:p>
          <a:p>
            <a:pPr marL="800100" lvl="1" indent="-342900" eaLnBrk="0" fontAlgn="base" hangingPunct="0">
              <a:spcBef>
                <a:spcPct val="0"/>
              </a:spcBef>
              <a:spcAft>
                <a:spcPct val="0"/>
              </a:spcAft>
              <a:buFont typeface="Arial" panose="020B0604020202020204" pitchFamily="34" charset="0"/>
              <a:buChar char="•"/>
            </a:pPr>
            <a:endParaRPr lang="en-US" sz="2000" dirty="0"/>
          </a:p>
          <a:p>
            <a:pPr marL="800100" lvl="1" indent="-342900" eaLnBrk="0" fontAlgn="base" hangingPunct="0">
              <a:spcBef>
                <a:spcPct val="0"/>
              </a:spcBef>
              <a:spcAft>
                <a:spcPct val="0"/>
              </a:spcAft>
              <a:buFont typeface="Arial" panose="020B0604020202020204" pitchFamily="34" charset="0"/>
              <a:buChar char="•"/>
            </a:pPr>
            <a:endParaRPr lang="en-US" sz="2000" dirty="0"/>
          </a:p>
          <a:p>
            <a:pPr marL="342900"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rPr>
              <a:t>Dataset Source:</a:t>
            </a:r>
          </a:p>
          <a:p>
            <a:pPr marL="800100" lvl="1" indent="-342900" eaLnBrk="0" fontAlgn="base" hangingPunct="0">
              <a:spcBef>
                <a:spcPct val="0"/>
              </a:spcBef>
              <a:spcAft>
                <a:spcPct val="0"/>
              </a:spcAft>
              <a:buFont typeface="Arial" panose="020B0604020202020204" pitchFamily="34" charset="0"/>
              <a:buChar char="•"/>
            </a:pPr>
            <a:r>
              <a:rPr lang="en-US" altLang="en-US" sz="2000" dirty="0"/>
              <a:t>Kaggle: </a:t>
            </a:r>
            <a:r>
              <a:rPr lang="en-US" altLang="en-US" sz="2000" dirty="0">
                <a:hlinkClick r:id="rId2"/>
              </a:rPr>
              <a:t>Image Matching Challenge 2025</a:t>
            </a:r>
            <a:r>
              <a:rPr lang="en-US" sz="2000" dirty="0"/>
              <a:t>.</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9118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69626-698C-0529-4004-56350DBFF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DC3AF-A033-9DF4-1070-8647AA596C8B}"/>
              </a:ext>
            </a:extLst>
          </p:cNvPr>
          <p:cNvSpPr>
            <a:spLocks noGrp="1"/>
          </p:cNvSpPr>
          <p:nvPr>
            <p:ph type="title"/>
          </p:nvPr>
        </p:nvSpPr>
        <p:spPr>
          <a:xfrm>
            <a:off x="207141" y="259079"/>
            <a:ext cx="5486398" cy="868679"/>
          </a:xfrm>
        </p:spPr>
        <p:txBody>
          <a:bodyPr/>
          <a:lstStyle/>
          <a:p>
            <a:r>
              <a:rPr lang="en-IN" dirty="0"/>
              <a:t>Problem Statement</a:t>
            </a:r>
          </a:p>
        </p:txBody>
      </p:sp>
      <p:sp>
        <p:nvSpPr>
          <p:cNvPr id="11" name="Rectangle 4">
            <a:extLst>
              <a:ext uri="{FF2B5EF4-FFF2-40B4-BE49-F238E27FC236}">
                <a16:creationId xmlns:a16="http://schemas.microsoft.com/office/drawing/2014/main" id="{3FA5EAAD-E0CC-C3C8-CE1F-A48AC0FD576F}"/>
              </a:ext>
            </a:extLst>
          </p:cNvPr>
          <p:cNvSpPr>
            <a:spLocks noChangeArrowheads="1"/>
          </p:cNvSpPr>
          <p:nvPr/>
        </p:nvSpPr>
        <p:spPr bwMode="auto">
          <a:xfrm>
            <a:off x="557659" y="1588683"/>
            <a:ext cx="937548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sz="2000" dirty="0"/>
              <a:t>Given two input images, determine whether they depict overlapping views of the same 3D scene or object. The goal is to accurately identify matching image pairs to support robust 3D reconstruction in real-world, diverse image collections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2000"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Find </a:t>
            </a:r>
            <a:r>
              <a:rPr lang="en-US" sz="2000" b="1" dirty="0"/>
              <a:t>reliable </a:t>
            </a:r>
            <a:r>
              <a:rPr lang="en-US" sz="2000" b="1" dirty="0" err="1"/>
              <a:t>keypoint</a:t>
            </a:r>
            <a:r>
              <a:rPr lang="en-US" sz="2000" b="1" dirty="0"/>
              <a:t> correspondences</a:t>
            </a:r>
            <a:r>
              <a:rPr lang="en-US" sz="2000" dirty="0"/>
              <a:t> between two images of the same scene.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2000" dirty="0"/>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Important for applications like 3D reconstruction, visual SLAM, AR, structure-from-motion.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2000" dirty="0"/>
          </a:p>
          <a:p>
            <a:pPr marL="342900" indent="-342900" eaLnBrk="0" fontAlgn="base" hangingPunct="0">
              <a:spcBef>
                <a:spcPct val="0"/>
              </a:spcBef>
              <a:spcAft>
                <a:spcPct val="0"/>
              </a:spcAft>
              <a:buFont typeface="Arial" panose="020B0604020202020204" pitchFamily="34" charset="0"/>
              <a:buChar char="•"/>
            </a:pPr>
            <a:r>
              <a:rPr lang="en-US" sz="2000" dirty="0"/>
              <a:t>Must work across changes in viewpoint, lighting, and occlusion.</a:t>
            </a:r>
          </a:p>
        </p:txBody>
      </p:sp>
    </p:spTree>
    <p:extLst>
      <p:ext uri="{BB962C8B-B14F-4D97-AF65-F5344CB8AC3E}">
        <p14:creationId xmlns:p14="http://schemas.microsoft.com/office/powerpoint/2010/main" val="1897954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505AB-F156-439A-C409-CB9E3DB82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E4390-3E73-9F9D-CF4D-E39F6A6069DC}"/>
              </a:ext>
            </a:extLst>
          </p:cNvPr>
          <p:cNvSpPr>
            <a:spLocks noGrp="1"/>
          </p:cNvSpPr>
          <p:nvPr>
            <p:ph type="title"/>
          </p:nvPr>
        </p:nvSpPr>
        <p:spPr>
          <a:xfrm>
            <a:off x="207141" y="259079"/>
            <a:ext cx="5486398" cy="868679"/>
          </a:xfrm>
        </p:spPr>
        <p:txBody>
          <a:bodyPr/>
          <a:lstStyle/>
          <a:p>
            <a:r>
              <a:rPr lang="en-IN" dirty="0"/>
              <a:t>Motivation</a:t>
            </a:r>
          </a:p>
        </p:txBody>
      </p:sp>
      <p:sp>
        <p:nvSpPr>
          <p:cNvPr id="11" name="Rectangle 4">
            <a:extLst>
              <a:ext uri="{FF2B5EF4-FFF2-40B4-BE49-F238E27FC236}">
                <a16:creationId xmlns:a16="http://schemas.microsoft.com/office/drawing/2014/main" id="{2B85E7E8-C6D0-608F-E1D2-DA5E74CDD89A}"/>
              </a:ext>
            </a:extLst>
          </p:cNvPr>
          <p:cNvSpPr>
            <a:spLocks noChangeArrowheads="1"/>
          </p:cNvSpPr>
          <p:nvPr/>
        </p:nvSpPr>
        <p:spPr bwMode="auto">
          <a:xfrm>
            <a:off x="557659" y="1588681"/>
            <a:ext cx="397624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err="1"/>
              <a:t>Keypoint</a:t>
            </a:r>
            <a:r>
              <a:rPr lang="en-US" sz="2000" dirty="0"/>
              <a:t> matching is a </a:t>
            </a:r>
            <a:r>
              <a:rPr lang="en-US" sz="2000" b="1" dirty="0"/>
              <a:t>core low-level task</a:t>
            </a:r>
            <a:r>
              <a:rPr lang="en-US" sz="2000" dirty="0"/>
              <a:t> in many CV pipelines.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Handcrafted descriptors like ORB are lightweight and fast – ideal for real-time use.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The Kaggle challenge simulates </a:t>
            </a:r>
            <a:r>
              <a:rPr lang="en-US" sz="2000" b="1" dirty="0"/>
              <a:t>real-world complexity</a:t>
            </a:r>
            <a:r>
              <a:rPr lang="en-US" sz="2000" dirty="0"/>
              <a:t> with high variation in scenes.</a:t>
            </a:r>
          </a:p>
        </p:txBody>
      </p:sp>
      <p:pic>
        <p:nvPicPr>
          <p:cNvPr id="1026" name="Picture 2" descr="Image Matching Challenge 2023 | Kaggle">
            <a:extLst>
              <a:ext uri="{FF2B5EF4-FFF2-40B4-BE49-F238E27FC236}">
                <a16:creationId xmlns:a16="http://schemas.microsoft.com/office/drawing/2014/main" id="{9D07DD12-A6A8-E29C-4188-40B700E30FFE}"/>
              </a:ext>
            </a:extLst>
          </p:cNvPr>
          <p:cNvPicPr>
            <a:picLocks noGrp="1" noChangeAspect="1" noChangeArrowheads="1"/>
          </p:cNvPicPr>
          <p:nvPr>
            <p:ph idx="17"/>
          </p:nvPr>
        </p:nvPicPr>
        <p:blipFill>
          <a:blip r:embed="rId2">
            <a:extLst>
              <a:ext uri="{28A0092B-C50C-407E-A947-70E740481C1C}">
                <a14:useLocalDpi xmlns:a14="http://schemas.microsoft.com/office/drawing/2010/main" val="0"/>
              </a:ext>
            </a:extLst>
          </a:blip>
          <a:srcRect/>
          <a:stretch>
            <a:fillRect/>
          </a:stretch>
        </p:blipFill>
        <p:spPr bwMode="auto">
          <a:xfrm>
            <a:off x="4951844" y="1997902"/>
            <a:ext cx="6576146" cy="2680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04FF-D61C-729F-5B63-0E6888D6B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3E0CF-16DB-6B3A-31AE-875BA67B4224}"/>
              </a:ext>
            </a:extLst>
          </p:cNvPr>
          <p:cNvSpPr>
            <a:spLocks noGrp="1"/>
          </p:cNvSpPr>
          <p:nvPr>
            <p:ph type="title"/>
          </p:nvPr>
        </p:nvSpPr>
        <p:spPr>
          <a:xfrm>
            <a:off x="207141" y="259079"/>
            <a:ext cx="5486398" cy="868679"/>
          </a:xfrm>
        </p:spPr>
        <p:txBody>
          <a:bodyPr/>
          <a:lstStyle/>
          <a:p>
            <a:r>
              <a:rPr lang="en-IN" dirty="0"/>
              <a:t>Input Description</a:t>
            </a:r>
          </a:p>
        </p:txBody>
      </p:sp>
      <p:sp>
        <p:nvSpPr>
          <p:cNvPr id="11" name="Rectangle 4">
            <a:extLst>
              <a:ext uri="{FF2B5EF4-FFF2-40B4-BE49-F238E27FC236}">
                <a16:creationId xmlns:a16="http://schemas.microsoft.com/office/drawing/2014/main" id="{DAB27F6E-9973-C845-8662-599528970318}"/>
              </a:ext>
            </a:extLst>
          </p:cNvPr>
          <p:cNvSpPr>
            <a:spLocks noChangeArrowheads="1"/>
          </p:cNvSpPr>
          <p:nvPr/>
        </p:nvSpPr>
        <p:spPr bwMode="auto">
          <a:xfrm>
            <a:off x="557659" y="1896458"/>
            <a:ext cx="381622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Inputs:</a:t>
            </a:r>
          </a:p>
          <a:p>
            <a:pPr marL="800100" lvl="1" indent="-342900" eaLnBrk="0" fontAlgn="base" hangingPunct="0">
              <a:spcBef>
                <a:spcPct val="0"/>
              </a:spcBef>
              <a:spcAft>
                <a:spcPct val="0"/>
              </a:spcAft>
              <a:buFont typeface="Arial" panose="020B0604020202020204" pitchFamily="34" charset="0"/>
              <a:buChar char="•"/>
            </a:pPr>
            <a:r>
              <a:rPr lang="en-US" sz="2000" dirty="0"/>
              <a:t>Image pairs (.</a:t>
            </a:r>
            <a:r>
              <a:rPr lang="en-US" sz="2000" dirty="0" err="1"/>
              <a:t>png</a:t>
            </a:r>
            <a:r>
              <a:rPr lang="en-US" sz="2000" dirty="0"/>
              <a:t>) from scenes</a:t>
            </a:r>
          </a:p>
          <a:p>
            <a:pPr marL="800100" lvl="1" indent="-342900" eaLnBrk="0" fontAlgn="base" hangingPunct="0">
              <a:spcBef>
                <a:spcPct val="0"/>
              </a:spcBef>
              <a:spcAft>
                <a:spcPct val="0"/>
              </a:spcAft>
              <a:buFont typeface="Arial" panose="020B0604020202020204" pitchFamily="34" charset="0"/>
              <a:buChar char="•"/>
            </a:pPr>
            <a:endParaRPr lang="en-US" sz="2000" dirty="0"/>
          </a:p>
          <a:p>
            <a:pPr marL="800100" lvl="1" indent="-342900" eaLnBrk="0" fontAlgn="base" hangingPunct="0">
              <a:spcBef>
                <a:spcPct val="0"/>
              </a:spcBef>
              <a:spcAft>
                <a:spcPct val="0"/>
              </a:spcAft>
              <a:buFont typeface="Arial" panose="020B0604020202020204" pitchFamily="34" charset="0"/>
              <a:buChar char="•"/>
            </a:pPr>
            <a:r>
              <a:rPr lang="en-US" sz="2000" dirty="0"/>
              <a:t>Camera intrinsics/</a:t>
            </a:r>
            <a:r>
              <a:rPr lang="en-US" sz="2000" dirty="0" err="1"/>
              <a:t>extrinsics</a:t>
            </a:r>
            <a:r>
              <a:rPr lang="en-US" sz="2000" dirty="0"/>
              <a:t> (not used in ORB method)</a:t>
            </a:r>
          </a:p>
          <a:p>
            <a:pPr marL="342900" indent="-342900" eaLnBrk="0" fontAlgn="base" hangingPunct="0">
              <a:spcBef>
                <a:spcPct val="0"/>
              </a:spcBef>
              <a:spcAft>
                <a:spcPct val="0"/>
              </a:spcAft>
              <a:buFont typeface="Arial" panose="020B0604020202020204" pitchFamily="34" charset="0"/>
              <a:buChar char="•"/>
            </a:pPr>
            <a:endParaRPr lang="en-US" sz="2000" dirty="0"/>
          </a:p>
        </p:txBody>
      </p:sp>
      <p:grpSp>
        <p:nvGrpSpPr>
          <p:cNvPr id="4" name="Group 3">
            <a:extLst>
              <a:ext uri="{FF2B5EF4-FFF2-40B4-BE49-F238E27FC236}">
                <a16:creationId xmlns:a16="http://schemas.microsoft.com/office/drawing/2014/main" id="{E84865DC-FA26-F10B-1C10-6E4E20985846}"/>
              </a:ext>
            </a:extLst>
          </p:cNvPr>
          <p:cNvGrpSpPr/>
          <p:nvPr/>
        </p:nvGrpSpPr>
        <p:grpSpPr>
          <a:xfrm>
            <a:off x="4837963" y="984840"/>
            <a:ext cx="6796378" cy="4888320"/>
            <a:chOff x="4837963" y="984840"/>
            <a:chExt cx="6796378" cy="4888320"/>
          </a:xfrm>
        </p:grpSpPr>
        <p:pic>
          <p:nvPicPr>
            <p:cNvPr id="2050" name="Picture 2">
              <a:extLst>
                <a:ext uri="{FF2B5EF4-FFF2-40B4-BE49-F238E27FC236}">
                  <a16:creationId xmlns:a16="http://schemas.microsoft.com/office/drawing/2014/main" id="{CDA82EC1-4974-297E-3440-A2EFB5257D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850"/>
            <a:stretch/>
          </p:blipFill>
          <p:spPr bwMode="auto">
            <a:xfrm>
              <a:off x="4837963" y="984840"/>
              <a:ext cx="3321000" cy="43777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12D0AED-9FF1-2A49-8393-BFA4CDAFDF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850"/>
            <a:stretch/>
          </p:blipFill>
          <p:spPr bwMode="auto">
            <a:xfrm>
              <a:off x="8313341" y="984840"/>
              <a:ext cx="3321000" cy="437778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E7640E6-2D41-A271-1D0B-3073A8FA227C}"/>
                </a:ext>
              </a:extLst>
            </p:cNvPr>
            <p:cNvSpPr txBox="1"/>
            <p:nvPr/>
          </p:nvSpPr>
          <p:spPr>
            <a:xfrm>
              <a:off x="5623560" y="5503828"/>
              <a:ext cx="6010781" cy="369332"/>
            </a:xfrm>
            <a:prstGeom prst="rect">
              <a:avLst/>
            </a:prstGeom>
            <a:noFill/>
          </p:spPr>
          <p:txBody>
            <a:bodyPr wrap="square" rtlCol="0">
              <a:spAutoFit/>
            </a:bodyPr>
            <a:lstStyle/>
            <a:p>
              <a:r>
                <a:rPr lang="en-IN" dirty="0"/>
                <a:t>Fig.: Images of the same object with viewpoint change</a:t>
              </a:r>
            </a:p>
          </p:txBody>
        </p:sp>
      </p:grpSp>
    </p:spTree>
    <p:extLst>
      <p:ext uri="{BB962C8B-B14F-4D97-AF65-F5344CB8AC3E}">
        <p14:creationId xmlns:p14="http://schemas.microsoft.com/office/powerpoint/2010/main" val="1068175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22C6-AC40-670F-95DF-2F20788EA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9C16F-3A29-A9F2-D2B7-F3E1EAEC8C4D}"/>
              </a:ext>
            </a:extLst>
          </p:cNvPr>
          <p:cNvSpPr>
            <a:spLocks noGrp="1"/>
          </p:cNvSpPr>
          <p:nvPr>
            <p:ph type="title"/>
          </p:nvPr>
        </p:nvSpPr>
        <p:spPr>
          <a:xfrm>
            <a:off x="207141" y="259079"/>
            <a:ext cx="5486398" cy="868679"/>
          </a:xfrm>
        </p:spPr>
        <p:txBody>
          <a:bodyPr/>
          <a:lstStyle/>
          <a:p>
            <a:r>
              <a:rPr lang="en-IN" dirty="0"/>
              <a:t>Output Description</a:t>
            </a:r>
          </a:p>
        </p:txBody>
      </p:sp>
      <p:sp>
        <p:nvSpPr>
          <p:cNvPr id="11" name="Rectangle 4">
            <a:extLst>
              <a:ext uri="{FF2B5EF4-FFF2-40B4-BE49-F238E27FC236}">
                <a16:creationId xmlns:a16="http://schemas.microsoft.com/office/drawing/2014/main" id="{8E8195EB-8743-F8B0-2E34-1FAB00EDCCEA}"/>
              </a:ext>
            </a:extLst>
          </p:cNvPr>
          <p:cNvSpPr>
            <a:spLocks noChangeArrowheads="1"/>
          </p:cNvSpPr>
          <p:nvPr/>
        </p:nvSpPr>
        <p:spPr bwMode="auto">
          <a:xfrm>
            <a:off x="557658" y="1896459"/>
            <a:ext cx="495379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Outputs:</a:t>
            </a:r>
          </a:p>
          <a:p>
            <a:pPr marL="800100" lvl="1" indent="-342900" eaLnBrk="0" fontAlgn="base" hangingPunct="0">
              <a:spcBef>
                <a:spcPct val="0"/>
              </a:spcBef>
              <a:spcAft>
                <a:spcPct val="0"/>
              </a:spcAft>
              <a:buFont typeface="Arial" panose="020B0604020202020204" pitchFamily="34" charset="0"/>
              <a:buChar char="•"/>
            </a:pPr>
            <a:r>
              <a:rPr lang="en-IN" sz="2000" dirty="0"/>
              <a:t>Matched </a:t>
            </a:r>
            <a:r>
              <a:rPr lang="en-IN" sz="2000" dirty="0" err="1"/>
              <a:t>keypoints</a:t>
            </a:r>
            <a:r>
              <a:rPr lang="en-IN" sz="2000" dirty="0"/>
              <a:t> (index pairs)</a:t>
            </a:r>
          </a:p>
          <a:p>
            <a:pPr lvl="1" eaLnBrk="0" fontAlgn="base" hangingPunct="0">
              <a:spcBef>
                <a:spcPct val="0"/>
              </a:spcBef>
              <a:spcAft>
                <a:spcPct val="0"/>
              </a:spcAft>
            </a:pPr>
            <a:endParaRPr lang="en-IN" sz="2000" dirty="0"/>
          </a:p>
          <a:p>
            <a:pPr marL="800100" lvl="1" indent="-342900" eaLnBrk="0" fontAlgn="base" hangingPunct="0">
              <a:spcBef>
                <a:spcPct val="0"/>
              </a:spcBef>
              <a:spcAft>
                <a:spcPct val="0"/>
              </a:spcAft>
              <a:buFont typeface="Arial" panose="020B0604020202020204" pitchFamily="34" charset="0"/>
              <a:buChar char="•"/>
            </a:pPr>
            <a:r>
              <a:rPr lang="en-US" sz="2000" dirty="0"/>
              <a:t>Visualization of N top matches</a:t>
            </a:r>
          </a:p>
          <a:p>
            <a:pPr marL="800100" lvl="1" indent="-342900" eaLnBrk="0" fontAlgn="base" hangingPunct="0">
              <a:spcBef>
                <a:spcPct val="0"/>
              </a:spcBef>
              <a:spcAft>
                <a:spcPct val="0"/>
              </a:spcAft>
              <a:buFont typeface="Arial" panose="020B0604020202020204" pitchFamily="34" charset="0"/>
              <a:buChar char="•"/>
            </a:pPr>
            <a:endParaRPr lang="en-US" sz="2000" dirty="0"/>
          </a:p>
          <a:p>
            <a:pPr marL="800100" lvl="1" indent="-342900" eaLnBrk="0" fontAlgn="base" hangingPunct="0">
              <a:spcBef>
                <a:spcPct val="0"/>
              </a:spcBef>
              <a:spcAft>
                <a:spcPct val="0"/>
              </a:spcAft>
              <a:buFont typeface="Arial" panose="020B0604020202020204" pitchFamily="34" charset="0"/>
              <a:buChar char="•"/>
            </a:pPr>
            <a:endParaRPr lang="en-US" sz="2000" dirty="0"/>
          </a:p>
          <a:p>
            <a:pPr marL="342900" indent="-342900" eaLnBrk="0" fontAlgn="base" hangingPunct="0">
              <a:spcBef>
                <a:spcPct val="0"/>
              </a:spcBef>
              <a:spcAft>
                <a:spcPct val="0"/>
              </a:spcAft>
              <a:buFont typeface="Arial" panose="020B0604020202020204" pitchFamily="34" charset="0"/>
              <a:buChar char="•"/>
            </a:pPr>
            <a:r>
              <a:rPr lang="en-US" sz="2000" dirty="0"/>
              <a:t>Uses OpenCV’s </a:t>
            </a:r>
            <a:r>
              <a:rPr lang="en-US" sz="2000" dirty="0" err="1"/>
              <a:t>drawMatches</a:t>
            </a:r>
            <a:r>
              <a:rPr lang="en-US" sz="2000" dirty="0"/>
              <a:t>() for visualization</a:t>
            </a:r>
          </a:p>
        </p:txBody>
      </p:sp>
      <p:sp>
        <p:nvSpPr>
          <p:cNvPr id="3" name="TextBox 2">
            <a:extLst>
              <a:ext uri="{FF2B5EF4-FFF2-40B4-BE49-F238E27FC236}">
                <a16:creationId xmlns:a16="http://schemas.microsoft.com/office/drawing/2014/main" id="{75FEA0A7-4D83-3A0C-0CE1-B17D55A38FF9}"/>
              </a:ext>
            </a:extLst>
          </p:cNvPr>
          <p:cNvSpPr txBox="1"/>
          <p:nvPr/>
        </p:nvSpPr>
        <p:spPr>
          <a:xfrm>
            <a:off x="5623560" y="5503828"/>
            <a:ext cx="6389764" cy="369332"/>
          </a:xfrm>
          <a:prstGeom prst="rect">
            <a:avLst/>
          </a:prstGeom>
          <a:noFill/>
        </p:spPr>
        <p:txBody>
          <a:bodyPr wrap="square" rtlCol="0">
            <a:spAutoFit/>
          </a:bodyPr>
          <a:lstStyle/>
          <a:p>
            <a:r>
              <a:rPr lang="en-IN" dirty="0"/>
              <a:t>Fig.: Result of </a:t>
            </a:r>
            <a:r>
              <a:rPr lang="en-IN" dirty="0" err="1"/>
              <a:t>drawMatches</a:t>
            </a:r>
            <a:r>
              <a:rPr lang="en-IN" dirty="0"/>
              <a:t>() with lines connecting features</a:t>
            </a:r>
          </a:p>
        </p:txBody>
      </p:sp>
      <p:pic>
        <p:nvPicPr>
          <p:cNvPr id="8" name="Picture 7">
            <a:extLst>
              <a:ext uri="{FF2B5EF4-FFF2-40B4-BE49-F238E27FC236}">
                <a16:creationId xmlns:a16="http://schemas.microsoft.com/office/drawing/2014/main" id="{DF464887-32C7-64ED-A726-0545E8D82119}"/>
              </a:ext>
            </a:extLst>
          </p:cNvPr>
          <p:cNvPicPr>
            <a:picLocks noChangeAspect="1"/>
          </p:cNvPicPr>
          <p:nvPr/>
        </p:nvPicPr>
        <p:blipFill>
          <a:blip r:embed="rId2"/>
          <a:stretch>
            <a:fillRect/>
          </a:stretch>
        </p:blipFill>
        <p:spPr>
          <a:xfrm>
            <a:off x="6061962" y="693418"/>
            <a:ext cx="5133975" cy="4800600"/>
          </a:xfrm>
          <a:prstGeom prst="rect">
            <a:avLst/>
          </a:prstGeom>
        </p:spPr>
      </p:pic>
    </p:spTree>
    <p:extLst>
      <p:ext uri="{BB962C8B-B14F-4D97-AF65-F5344CB8AC3E}">
        <p14:creationId xmlns:p14="http://schemas.microsoft.com/office/powerpoint/2010/main" val="731555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9E054-A469-B8FB-8C81-487740ACD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6625A-2694-47D7-8E04-58842A4FB602}"/>
              </a:ext>
            </a:extLst>
          </p:cNvPr>
          <p:cNvSpPr>
            <a:spLocks noGrp="1"/>
          </p:cNvSpPr>
          <p:nvPr>
            <p:ph type="title"/>
          </p:nvPr>
        </p:nvSpPr>
        <p:spPr>
          <a:xfrm>
            <a:off x="207140" y="259079"/>
            <a:ext cx="7540207" cy="868679"/>
          </a:xfrm>
        </p:spPr>
        <p:txBody>
          <a:bodyPr/>
          <a:lstStyle/>
          <a:p>
            <a:r>
              <a:rPr lang="en-IN" dirty="0"/>
              <a:t>Dataset for Image Matching </a:t>
            </a:r>
          </a:p>
        </p:txBody>
      </p:sp>
      <p:sp>
        <p:nvSpPr>
          <p:cNvPr id="3" name="TextBox 2">
            <a:extLst>
              <a:ext uri="{FF2B5EF4-FFF2-40B4-BE49-F238E27FC236}">
                <a16:creationId xmlns:a16="http://schemas.microsoft.com/office/drawing/2014/main" id="{A284CBC1-E684-C941-B460-5D50939EB675}"/>
              </a:ext>
            </a:extLst>
          </p:cNvPr>
          <p:cNvSpPr txBox="1"/>
          <p:nvPr/>
        </p:nvSpPr>
        <p:spPr>
          <a:xfrm>
            <a:off x="207140" y="1885167"/>
            <a:ext cx="6889315" cy="2585323"/>
          </a:xfrm>
          <a:prstGeom prst="rect">
            <a:avLst/>
          </a:prstGeom>
          <a:noFill/>
        </p:spPr>
        <p:txBody>
          <a:bodyPr wrap="square" rtlCol="0">
            <a:spAutoFit/>
          </a:bodyPr>
          <a:lstStyle/>
          <a:p>
            <a:pPr>
              <a:buNone/>
            </a:pPr>
            <a:r>
              <a:rPr lang="en-US" b="1" dirty="0"/>
              <a:t>The dataset is divided into:</a:t>
            </a:r>
            <a:endParaRPr lang="en-US" dirty="0"/>
          </a:p>
          <a:p>
            <a:pPr>
              <a:buFont typeface="Arial" panose="020B0604020202020204" pitchFamily="34" charset="0"/>
              <a:buChar char="•"/>
            </a:pPr>
            <a:r>
              <a:rPr lang="en-US" dirty="0"/>
              <a:t>Training Set</a:t>
            </a:r>
          </a:p>
          <a:p>
            <a:pPr marL="742950" lvl="1" indent="-285750">
              <a:buFont typeface="Arial" panose="020B0604020202020204" pitchFamily="34" charset="0"/>
              <a:buChar char="•"/>
            </a:pPr>
            <a:r>
              <a:rPr lang="en-US" dirty="0"/>
              <a:t>Includes labeled images with camera pose information.</a:t>
            </a:r>
          </a:p>
          <a:p>
            <a:pPr>
              <a:buFont typeface="Arial" panose="020B0604020202020204" pitchFamily="34" charset="0"/>
              <a:buChar char="•"/>
            </a:pPr>
            <a:r>
              <a:rPr lang="en-US" dirty="0"/>
              <a:t>Test Set</a:t>
            </a:r>
          </a:p>
          <a:p>
            <a:pPr marL="742950" lvl="1" indent="-285750">
              <a:buFont typeface="Arial" panose="020B0604020202020204" pitchFamily="34" charset="0"/>
              <a:buChar char="•"/>
            </a:pPr>
            <a:r>
              <a:rPr lang="en-US" dirty="0"/>
              <a:t>Contains similar image groups without labels.</a:t>
            </a:r>
          </a:p>
          <a:p>
            <a:pPr marL="742950" lvl="1" indent="-285750">
              <a:buFont typeface="Arial" panose="020B0604020202020204" pitchFamily="34" charset="0"/>
              <a:buChar char="•"/>
            </a:pPr>
            <a:r>
              <a:rPr lang="en-US" dirty="0"/>
              <a:t>Used for evaluation of generalization capability.</a:t>
            </a:r>
          </a:p>
          <a:p>
            <a:r>
              <a:rPr lang="en-US" b="1" dirty="0"/>
              <a:t>Each set contains images from one or more real-world scenes, including possible outlier images.</a:t>
            </a:r>
            <a:endParaRPr lang="en-US" dirty="0"/>
          </a:p>
          <a:p>
            <a:endParaRPr lang="en-IN" dirty="0"/>
          </a:p>
        </p:txBody>
      </p:sp>
      <p:pic>
        <p:nvPicPr>
          <p:cNvPr id="2050" name="Picture 2" descr="Seventh Workshop on Image Matching: Local Features &amp; Beyond">
            <a:extLst>
              <a:ext uri="{FF2B5EF4-FFF2-40B4-BE49-F238E27FC236}">
                <a16:creationId xmlns:a16="http://schemas.microsoft.com/office/drawing/2014/main" id="{0697068D-9668-F0CB-6264-F58F3A0387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86" r="2210"/>
          <a:stretch/>
        </p:blipFill>
        <p:spPr bwMode="auto">
          <a:xfrm>
            <a:off x="6585633" y="1409177"/>
            <a:ext cx="5180022" cy="403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430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0410-8E31-7065-E644-486EFBE23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EA59B-7471-B217-20D8-170E721FBBD4}"/>
              </a:ext>
            </a:extLst>
          </p:cNvPr>
          <p:cNvSpPr>
            <a:spLocks noGrp="1"/>
          </p:cNvSpPr>
          <p:nvPr>
            <p:ph type="title"/>
          </p:nvPr>
        </p:nvSpPr>
        <p:spPr>
          <a:xfrm>
            <a:off x="207140" y="259079"/>
            <a:ext cx="7540207" cy="868679"/>
          </a:xfrm>
        </p:spPr>
        <p:txBody>
          <a:bodyPr/>
          <a:lstStyle/>
          <a:p>
            <a:r>
              <a:rPr lang="en-IN" dirty="0"/>
              <a:t>Dataset for Image Matching </a:t>
            </a:r>
          </a:p>
        </p:txBody>
      </p:sp>
      <p:sp>
        <p:nvSpPr>
          <p:cNvPr id="3" name="TextBox 2">
            <a:extLst>
              <a:ext uri="{FF2B5EF4-FFF2-40B4-BE49-F238E27FC236}">
                <a16:creationId xmlns:a16="http://schemas.microsoft.com/office/drawing/2014/main" id="{9ABD7B8D-79E9-F2B2-948D-2563BF758186}"/>
              </a:ext>
            </a:extLst>
          </p:cNvPr>
          <p:cNvSpPr txBox="1"/>
          <p:nvPr/>
        </p:nvSpPr>
        <p:spPr>
          <a:xfrm>
            <a:off x="695195" y="1409177"/>
            <a:ext cx="5536504" cy="4462760"/>
          </a:xfrm>
          <a:prstGeom prst="rect">
            <a:avLst/>
          </a:prstGeom>
          <a:noFill/>
        </p:spPr>
        <p:txBody>
          <a:bodyPr wrap="square" rtlCol="0">
            <a:spAutoFit/>
          </a:bodyPr>
          <a:lstStyle/>
          <a:p>
            <a:r>
              <a:rPr lang="en-US" dirty="0"/>
              <a:t>Key Files in the Dataset</a:t>
            </a:r>
          </a:p>
          <a:p>
            <a:endParaRPr lang="en-US"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train_labels.csv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dataset</a:t>
            </a:r>
            <a:r>
              <a:rPr kumimoji="0" lang="en-US" altLang="en-US" b="0" i="0" u="none" strike="noStrike" cap="none" normalizeH="0" baseline="0" dirty="0">
                <a:ln>
                  <a:noFill/>
                </a:ln>
                <a:solidFill>
                  <a:schemeClr val="tx1"/>
                </a:solidFill>
                <a:effectLst/>
              </a:rPr>
              <a:t>: Dataset identifier.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scene</a:t>
            </a:r>
            <a:r>
              <a:rPr kumimoji="0" lang="en-US" altLang="en-US" b="0" i="0" u="none" strike="noStrike" cap="none" normalizeH="0" baseline="0" dirty="0">
                <a:ln>
                  <a:noFill/>
                </a:ln>
                <a:solidFill>
                  <a:schemeClr val="tx1"/>
                </a:solidFill>
                <a:effectLst/>
              </a:rPr>
              <a:t>: Unique scene ID within the dataset.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image</a:t>
            </a:r>
            <a:r>
              <a:rPr kumimoji="0" lang="en-US" altLang="en-US" b="0" i="0" u="none" strike="noStrike" cap="none" normalizeH="0" baseline="0" dirty="0">
                <a:ln>
                  <a:noFill/>
                </a:ln>
                <a:solidFill>
                  <a:schemeClr val="tx1"/>
                </a:solidFill>
                <a:effectLst/>
              </a:rPr>
              <a:t>: Filename of the image.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rotation matrix</a:t>
            </a:r>
            <a:r>
              <a:rPr kumimoji="0" lang="en-US" altLang="en-US" b="0" i="0" u="none" strike="noStrike" cap="none" normalizeH="0" baseline="0" dirty="0">
                <a:ln>
                  <a:noFill/>
                </a:ln>
                <a:solidFill>
                  <a:schemeClr val="tx1"/>
                </a:solidFill>
                <a:effectLst/>
              </a:rPr>
              <a:t>: 3×3 camera orientation (flattened).</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translation vector</a:t>
            </a:r>
            <a:r>
              <a:rPr kumimoji="0" lang="en-US" altLang="en-US" b="0" i="0" u="none" strike="noStrike" cap="none" normalizeH="0" baseline="0" dirty="0">
                <a:ln>
                  <a:noFill/>
                </a:ln>
                <a:solidFill>
                  <a:schemeClr val="tx1"/>
                </a:solidFill>
                <a:effectLst/>
              </a:rPr>
              <a:t>: Camera position in 3D space.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a:buFont typeface="Arial" panose="020B0604020202020204" pitchFamily="34" charset="0"/>
              <a:buChar char="•"/>
            </a:pPr>
            <a:endParaRPr lang="en-US" dirty="0"/>
          </a:p>
          <a:p>
            <a:pPr>
              <a:buNone/>
            </a:pPr>
            <a:r>
              <a:rPr lang="en-US" b="1" dirty="0"/>
              <a:t>dataset/*.</a:t>
            </a:r>
            <a:r>
              <a:rPr lang="en-US" b="1" dirty="0" err="1"/>
              <a:t>png</a:t>
            </a:r>
            <a:endParaRPr lang="en-US" b="1" dirty="0"/>
          </a:p>
          <a:p>
            <a:pPr>
              <a:buFont typeface="Arial" panose="020B0604020202020204" pitchFamily="34" charset="0"/>
              <a:buChar char="•"/>
            </a:pPr>
            <a:r>
              <a:rPr lang="en-US" dirty="0"/>
              <a:t>Raw images grouped by dataset folders.</a:t>
            </a:r>
          </a:p>
          <a:p>
            <a:pPr>
              <a:buFont typeface="Arial" panose="020B0604020202020204" pitchFamily="34" charset="0"/>
              <a:buChar char="•"/>
            </a:pPr>
            <a:endParaRPr lang="en-US" sz="16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US" dirty="0"/>
          </a:p>
          <a:p>
            <a:endParaRPr lang="en-IN" dirty="0"/>
          </a:p>
        </p:txBody>
      </p:sp>
      <p:pic>
        <p:nvPicPr>
          <p:cNvPr id="2050" name="Picture 2" descr="Seventh Workshop on Image Matching: Local Features &amp; Beyond">
            <a:extLst>
              <a:ext uri="{FF2B5EF4-FFF2-40B4-BE49-F238E27FC236}">
                <a16:creationId xmlns:a16="http://schemas.microsoft.com/office/drawing/2014/main" id="{74746232-F1A0-20C6-34E9-F9C49C62EA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86" r="2210"/>
          <a:stretch/>
        </p:blipFill>
        <p:spPr bwMode="auto">
          <a:xfrm>
            <a:off x="6585633" y="1409177"/>
            <a:ext cx="5180022" cy="403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979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F2F4-273D-B834-BBF0-8B3C78334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62BDC-47B8-BE2D-AAB1-37EEC70CCC24}"/>
              </a:ext>
            </a:extLst>
          </p:cNvPr>
          <p:cNvSpPr>
            <a:spLocks noGrp="1"/>
          </p:cNvSpPr>
          <p:nvPr>
            <p:ph type="title"/>
          </p:nvPr>
        </p:nvSpPr>
        <p:spPr>
          <a:xfrm>
            <a:off x="207140" y="259079"/>
            <a:ext cx="7540207" cy="868679"/>
          </a:xfrm>
        </p:spPr>
        <p:txBody>
          <a:bodyPr/>
          <a:lstStyle/>
          <a:p>
            <a:r>
              <a:rPr lang="en-IN" dirty="0"/>
              <a:t>Dataset for Image Matching </a:t>
            </a:r>
          </a:p>
        </p:txBody>
      </p:sp>
      <p:sp>
        <p:nvSpPr>
          <p:cNvPr id="3" name="TextBox 2">
            <a:extLst>
              <a:ext uri="{FF2B5EF4-FFF2-40B4-BE49-F238E27FC236}">
                <a16:creationId xmlns:a16="http://schemas.microsoft.com/office/drawing/2014/main" id="{89E055AC-4C26-65E0-87A4-6A89DD4BAD7C}"/>
              </a:ext>
            </a:extLst>
          </p:cNvPr>
          <p:cNvSpPr txBox="1"/>
          <p:nvPr/>
        </p:nvSpPr>
        <p:spPr>
          <a:xfrm>
            <a:off x="695195" y="1897692"/>
            <a:ext cx="5536504" cy="3908762"/>
          </a:xfrm>
          <a:prstGeom prst="rect">
            <a:avLst/>
          </a:prstGeom>
          <a:noFill/>
        </p:spPr>
        <p:txBody>
          <a:bodyPr wrap="square" rtlCol="0">
            <a:spAutoFit/>
          </a:bodyPr>
          <a:lstStyle/>
          <a:p>
            <a:pPr>
              <a:buNone/>
            </a:pPr>
            <a:r>
              <a:rPr lang="en-US" b="1" dirty="0"/>
              <a:t>Dataset Challenges</a:t>
            </a:r>
          </a:p>
          <a:p>
            <a:pPr>
              <a:buNone/>
            </a:pPr>
            <a:endParaRPr lang="en-US" b="1" dirty="0"/>
          </a:p>
          <a:p>
            <a:pPr>
              <a:buFont typeface="Arial" panose="020B0604020202020204" pitchFamily="34" charset="0"/>
              <a:buChar char="•"/>
            </a:pPr>
            <a:r>
              <a:rPr lang="en-US" b="1" dirty="0"/>
              <a:t>Mixed Scenes:</a:t>
            </a:r>
            <a:r>
              <a:rPr lang="en-US" dirty="0"/>
              <a:t> Datasets may contain images from multiple locations.</a:t>
            </a:r>
          </a:p>
          <a:p>
            <a:pPr>
              <a:buFont typeface="Arial" panose="020B0604020202020204" pitchFamily="34" charset="0"/>
              <a:buChar char="•"/>
            </a:pPr>
            <a:endParaRPr lang="en-US" dirty="0"/>
          </a:p>
          <a:p>
            <a:pPr>
              <a:buFont typeface="Arial" panose="020B0604020202020204" pitchFamily="34" charset="0"/>
              <a:buChar char="•"/>
            </a:pPr>
            <a:r>
              <a:rPr lang="en-US" b="1" dirty="0"/>
              <a:t>Outliers:</a:t>
            </a:r>
            <a:r>
              <a:rPr lang="en-US" dirty="0"/>
              <a:t> Presence of unrelated images increases complexity.</a:t>
            </a:r>
          </a:p>
          <a:p>
            <a:pPr>
              <a:buFont typeface="Arial" panose="020B0604020202020204" pitchFamily="34" charset="0"/>
              <a:buChar char="•"/>
            </a:pPr>
            <a:endParaRPr lang="en-US" dirty="0"/>
          </a:p>
          <a:p>
            <a:pPr>
              <a:buFont typeface="Arial" panose="020B0604020202020204" pitchFamily="34" charset="0"/>
              <a:buChar char="•"/>
            </a:pPr>
            <a:r>
              <a:rPr lang="en-US" b="1" dirty="0"/>
              <a:t>Generalization:</a:t>
            </a:r>
            <a:r>
              <a:rPr lang="en-US" dirty="0"/>
              <a:t> Models must infer scene structure and camera poses without direct labels in the test set</a:t>
            </a:r>
          </a:p>
          <a:p>
            <a:pPr>
              <a:buFont typeface="Arial" panose="020B0604020202020204" pitchFamily="34" charset="0"/>
              <a:buChar char="•"/>
            </a:pPr>
            <a:endParaRPr lang="en-US" sz="16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US" dirty="0"/>
          </a:p>
          <a:p>
            <a:endParaRPr lang="en-IN" dirty="0"/>
          </a:p>
        </p:txBody>
      </p:sp>
      <p:pic>
        <p:nvPicPr>
          <p:cNvPr id="2050" name="Picture 2" descr="Seventh Workshop on Image Matching: Local Features &amp; Beyond">
            <a:extLst>
              <a:ext uri="{FF2B5EF4-FFF2-40B4-BE49-F238E27FC236}">
                <a16:creationId xmlns:a16="http://schemas.microsoft.com/office/drawing/2014/main" id="{1EC13D97-2301-F146-E77E-C9BFC47594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086" r="2210"/>
          <a:stretch/>
        </p:blipFill>
        <p:spPr bwMode="auto">
          <a:xfrm>
            <a:off x="6585633" y="1409177"/>
            <a:ext cx="5180022" cy="403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81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B706-E822-91ED-5D0C-3ACDA6D1E50F}"/>
              </a:ext>
            </a:extLst>
          </p:cNvPr>
          <p:cNvSpPr>
            <a:spLocks noGrp="1"/>
          </p:cNvSpPr>
          <p:nvPr>
            <p:ph type="title"/>
          </p:nvPr>
        </p:nvSpPr>
        <p:spPr/>
        <p:txBody>
          <a:bodyPr/>
          <a:lstStyle/>
          <a:p>
            <a:r>
              <a:rPr lang="en-IN" dirty="0"/>
              <a:t>Evaluation Metric Process</a:t>
            </a:r>
          </a:p>
        </p:txBody>
      </p:sp>
      <p:sp>
        <p:nvSpPr>
          <p:cNvPr id="3" name="Content Placeholder 2">
            <a:extLst>
              <a:ext uri="{FF2B5EF4-FFF2-40B4-BE49-F238E27FC236}">
                <a16:creationId xmlns:a16="http://schemas.microsoft.com/office/drawing/2014/main" id="{D4A8F14A-F3C4-EC65-5AD8-B07048911B26}"/>
              </a:ext>
            </a:extLst>
          </p:cNvPr>
          <p:cNvSpPr>
            <a:spLocks noGrp="1"/>
          </p:cNvSpPr>
          <p:nvPr>
            <p:ph idx="1"/>
          </p:nvPr>
        </p:nvSpPr>
        <p:spPr/>
        <p:txBody>
          <a:bodyPr>
            <a:normAutofit/>
          </a:bodyPr>
          <a:lstStyle/>
          <a:p>
            <a:r>
              <a:rPr lang="en-US" sz="2000" dirty="0"/>
              <a:t>The evaluation focuses on two main tasks: </a:t>
            </a:r>
          </a:p>
          <a:p>
            <a:pPr marL="457200" indent="-457200">
              <a:buAutoNum type="arabicParenBoth"/>
            </a:pPr>
            <a:r>
              <a:rPr lang="en-US" sz="2000" dirty="0"/>
              <a:t>partitioning images from each dataset into clusters representing scenes or outliers</a:t>
            </a:r>
          </a:p>
          <a:p>
            <a:r>
              <a:rPr lang="en-US" sz="2000" dirty="0"/>
              <a:t>(2) reconstructing camera poses for each image. </a:t>
            </a:r>
          </a:p>
          <a:p>
            <a:endParaRPr lang="en-US" sz="2000" dirty="0"/>
          </a:p>
          <a:p>
            <a:r>
              <a:rPr lang="en-US" sz="2000" dirty="0"/>
              <a:t>Each dataset may contain multiple scenes, and images that do not belong to any scene are treated as outliers. For each image, we must estimate its camera pose, defined by a 3×3 rotation matrix R and a 3D translation vector T.</a:t>
            </a:r>
            <a:endParaRPr lang="en-IN" sz="2000" dirty="0"/>
          </a:p>
        </p:txBody>
      </p:sp>
    </p:spTree>
    <p:extLst>
      <p:ext uri="{BB962C8B-B14F-4D97-AF65-F5344CB8AC3E}">
        <p14:creationId xmlns:p14="http://schemas.microsoft.com/office/powerpoint/2010/main" val="1109194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018A8-7125-5CD7-9D89-4AD2EE04CF27}"/>
              </a:ext>
            </a:extLst>
          </p:cNvPr>
          <p:cNvSpPr>
            <a:spLocks noGrp="1"/>
          </p:cNvSpPr>
          <p:nvPr>
            <p:ph type="title"/>
          </p:nvPr>
        </p:nvSpPr>
        <p:spPr>
          <a:xfrm>
            <a:off x="1158864" y="102021"/>
            <a:ext cx="10753388" cy="1744415"/>
          </a:xfrm>
        </p:spPr>
        <p:txBody>
          <a:bodyPr/>
          <a:lstStyle/>
          <a:p>
            <a:r>
              <a:rPr lang="en-US" dirty="0"/>
              <a:t>Scoring Metrics – </a:t>
            </a:r>
            <a:r>
              <a:rPr lang="en-US" dirty="0" err="1"/>
              <a:t>mAA</a:t>
            </a:r>
            <a:r>
              <a:rPr lang="en-US" dirty="0"/>
              <a:t> and Clustering Score</a:t>
            </a:r>
            <a:endParaRPr lang="en-IN" dirty="0"/>
          </a:p>
        </p:txBody>
      </p:sp>
      <p:sp>
        <p:nvSpPr>
          <p:cNvPr id="3" name="Content Placeholder 2">
            <a:extLst>
              <a:ext uri="{FF2B5EF4-FFF2-40B4-BE49-F238E27FC236}">
                <a16:creationId xmlns:a16="http://schemas.microsoft.com/office/drawing/2014/main" id="{156AC0C1-07A7-4AFA-50A9-265338053767}"/>
              </a:ext>
            </a:extLst>
          </p:cNvPr>
          <p:cNvSpPr>
            <a:spLocks noGrp="1"/>
          </p:cNvSpPr>
          <p:nvPr>
            <p:ph idx="1"/>
          </p:nvPr>
        </p:nvSpPr>
        <p:spPr/>
        <p:txBody>
          <a:bodyPr>
            <a:normAutofit/>
          </a:bodyPr>
          <a:lstStyle/>
          <a:p>
            <a:r>
              <a:rPr lang="en-US" sz="2000" dirty="0"/>
              <a:t>The evaluation score combines two components: the </a:t>
            </a:r>
            <a:r>
              <a:rPr lang="en-US" sz="2000" b="1" dirty="0"/>
              <a:t>mean Average Accuracy (</a:t>
            </a:r>
            <a:r>
              <a:rPr lang="en-US" sz="2000" b="1" dirty="0" err="1"/>
              <a:t>mAA</a:t>
            </a:r>
            <a:r>
              <a:rPr lang="en-US" sz="2000" b="1" dirty="0"/>
              <a:t>)</a:t>
            </a:r>
            <a:r>
              <a:rPr lang="en-US" sz="2000" dirty="0"/>
              <a:t> and the </a:t>
            </a:r>
            <a:r>
              <a:rPr lang="en-US" sz="2000" b="1" dirty="0"/>
              <a:t>clustering score</a:t>
            </a:r>
            <a:r>
              <a:rPr lang="en-US" sz="2000" dirty="0"/>
              <a:t>. The </a:t>
            </a:r>
            <a:r>
              <a:rPr lang="en-US" sz="2000" dirty="0" err="1"/>
              <a:t>mAA</a:t>
            </a:r>
            <a:r>
              <a:rPr lang="en-US" sz="2000" dirty="0"/>
              <a:t> measures how accurately the predicted camera poses match the ground truth. Below C is camera center</a:t>
            </a:r>
          </a:p>
          <a:p>
            <a:r>
              <a:rPr lang="en-US" sz="2000" dirty="0"/>
              <a:t>				</a:t>
            </a:r>
          </a:p>
          <a:p>
            <a:r>
              <a:rPr lang="en-US" sz="2000" dirty="0"/>
              <a:t>The clustering score measures the quality of the image grouping, calculated as the ratio of correctly assigned images in a predicted cluster C to its total size</a:t>
            </a:r>
            <a:endParaRPr lang="en-IN" sz="2000" dirty="0"/>
          </a:p>
        </p:txBody>
      </p:sp>
      <p:sp>
        <p:nvSpPr>
          <p:cNvPr id="7" name="TextBox 6">
            <a:extLst>
              <a:ext uri="{FF2B5EF4-FFF2-40B4-BE49-F238E27FC236}">
                <a16:creationId xmlns:a16="http://schemas.microsoft.com/office/drawing/2014/main" id="{A8D29ADC-0404-6B56-BDCB-73923B185AA1}"/>
              </a:ext>
            </a:extLst>
          </p:cNvPr>
          <p:cNvSpPr txBox="1"/>
          <p:nvPr/>
        </p:nvSpPr>
        <p:spPr>
          <a:xfrm>
            <a:off x="1158864" y="4151601"/>
            <a:ext cx="9600994" cy="646331"/>
          </a:xfrm>
          <a:prstGeom prst="rect">
            <a:avLst/>
          </a:prstGeom>
          <a:noFill/>
        </p:spPr>
        <p:txBody>
          <a:bodyPr wrap="square">
            <a:spAutoFit/>
          </a:bodyPr>
          <a:lstStyle/>
          <a:p>
            <a:r>
              <a:rPr lang="en-US" dirty="0">
                <a:solidFill>
                  <a:srgbClr val="3C4043"/>
                </a:solidFill>
                <a:latin typeface="Inter"/>
              </a:rPr>
              <a:t>O</a:t>
            </a:r>
            <a:r>
              <a:rPr lang="en-US" b="0" i="0" dirty="0">
                <a:solidFill>
                  <a:srgbClr val="3C4043"/>
                </a:solidFill>
                <a:effectLst/>
                <a:latin typeface="Inter"/>
              </a:rPr>
              <a:t>verall </a:t>
            </a:r>
            <a:r>
              <a:rPr lang="en-US" b="0" i="0" dirty="0" err="1">
                <a:solidFill>
                  <a:srgbClr val="3C4043"/>
                </a:solidFill>
                <a:effectLst/>
                <a:latin typeface="Inter"/>
              </a:rPr>
              <a:t>mAA</a:t>
            </a:r>
            <a:r>
              <a:rPr lang="en-US" b="0" i="0" dirty="0">
                <a:solidFill>
                  <a:srgbClr val="3C4043"/>
                </a:solidFill>
                <a:effectLst/>
                <a:latin typeface="Inter"/>
              </a:rPr>
              <a:t> score and clustering score of a dataset are computed by </a:t>
            </a:r>
            <a:r>
              <a:rPr lang="en-US" b="0" i="1" dirty="0">
                <a:solidFill>
                  <a:srgbClr val="3C4043"/>
                </a:solidFill>
                <a:effectLst/>
                <a:latin typeface="Inter"/>
              </a:rPr>
              <a:t>aggregating</a:t>
            </a:r>
            <a:r>
              <a:rPr lang="en-US" b="0" i="0" dirty="0">
                <a:solidFill>
                  <a:srgbClr val="3C4043"/>
                </a:solidFill>
                <a:effectLst/>
                <a:latin typeface="Inter"/>
              </a:rPr>
              <a:t> the individual values. For the clustering score this is equal to</a:t>
            </a:r>
            <a:endParaRPr lang="en-IN" dirty="0"/>
          </a:p>
        </p:txBody>
      </p:sp>
      <p:pic>
        <p:nvPicPr>
          <p:cNvPr id="9" name="Picture 8">
            <a:extLst>
              <a:ext uri="{FF2B5EF4-FFF2-40B4-BE49-F238E27FC236}">
                <a16:creationId xmlns:a16="http://schemas.microsoft.com/office/drawing/2014/main" id="{BAC21578-62B6-0072-3139-660D889DC47B}"/>
              </a:ext>
            </a:extLst>
          </p:cNvPr>
          <p:cNvPicPr>
            <a:picLocks noChangeAspect="1"/>
          </p:cNvPicPr>
          <p:nvPr/>
        </p:nvPicPr>
        <p:blipFill>
          <a:blip r:embed="rId2"/>
          <a:stretch>
            <a:fillRect/>
          </a:stretch>
        </p:blipFill>
        <p:spPr>
          <a:xfrm>
            <a:off x="4521448" y="4893676"/>
            <a:ext cx="2076740" cy="981212"/>
          </a:xfrm>
          <a:prstGeom prst="rect">
            <a:avLst/>
          </a:prstGeom>
        </p:spPr>
      </p:pic>
      <p:sp>
        <p:nvSpPr>
          <p:cNvPr id="10" name="TextBox 9">
            <a:extLst>
              <a:ext uri="{FF2B5EF4-FFF2-40B4-BE49-F238E27FC236}">
                <a16:creationId xmlns:a16="http://schemas.microsoft.com/office/drawing/2014/main" id="{B2F904D1-125E-554D-1FD1-EF01C12E366E}"/>
              </a:ext>
            </a:extLst>
          </p:cNvPr>
          <p:cNvSpPr txBox="1"/>
          <p:nvPr/>
        </p:nvSpPr>
        <p:spPr>
          <a:xfrm>
            <a:off x="1158864" y="5605397"/>
            <a:ext cx="3473836" cy="369332"/>
          </a:xfrm>
          <a:prstGeom prst="rect">
            <a:avLst/>
          </a:prstGeom>
          <a:noFill/>
        </p:spPr>
        <p:txBody>
          <a:bodyPr wrap="none" rtlCol="0">
            <a:spAutoFit/>
          </a:bodyPr>
          <a:lstStyle/>
          <a:p>
            <a:r>
              <a:rPr lang="en-US" b="0" i="0" dirty="0">
                <a:solidFill>
                  <a:srgbClr val="3C4043"/>
                </a:solidFill>
                <a:effectLst/>
                <a:latin typeface="Inter"/>
              </a:rPr>
              <a:t>And analogously for the </a:t>
            </a:r>
            <a:r>
              <a:rPr lang="en-US" b="0" i="0" dirty="0" err="1">
                <a:solidFill>
                  <a:srgbClr val="3C4043"/>
                </a:solidFill>
                <a:effectLst/>
                <a:latin typeface="Inter"/>
              </a:rPr>
              <a:t>mAA</a:t>
            </a:r>
            <a:r>
              <a:rPr lang="en-US" b="0" i="0" dirty="0">
                <a:solidFill>
                  <a:srgbClr val="3C4043"/>
                </a:solidFill>
                <a:effectLst/>
                <a:latin typeface="Inter"/>
              </a:rPr>
              <a:t> score</a:t>
            </a:r>
            <a:endParaRPr lang="en-IN" dirty="0"/>
          </a:p>
        </p:txBody>
      </p:sp>
      <p:pic>
        <p:nvPicPr>
          <p:cNvPr id="12" name="Picture 11">
            <a:extLst>
              <a:ext uri="{FF2B5EF4-FFF2-40B4-BE49-F238E27FC236}">
                <a16:creationId xmlns:a16="http://schemas.microsoft.com/office/drawing/2014/main" id="{AC9881E3-9894-8288-FD0F-23247EF31A7A}"/>
              </a:ext>
            </a:extLst>
          </p:cNvPr>
          <p:cNvPicPr>
            <a:picLocks noChangeAspect="1"/>
          </p:cNvPicPr>
          <p:nvPr/>
        </p:nvPicPr>
        <p:blipFill>
          <a:blip r:embed="rId3"/>
          <a:stretch>
            <a:fillRect/>
          </a:stretch>
        </p:blipFill>
        <p:spPr>
          <a:xfrm>
            <a:off x="4790893" y="2913060"/>
            <a:ext cx="1305107" cy="342948"/>
          </a:xfrm>
          <a:prstGeom prst="rect">
            <a:avLst/>
          </a:prstGeom>
        </p:spPr>
      </p:pic>
    </p:spTree>
    <p:extLst>
      <p:ext uri="{BB962C8B-B14F-4D97-AF65-F5344CB8AC3E}">
        <p14:creationId xmlns:p14="http://schemas.microsoft.com/office/powerpoint/2010/main" val="4263010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AC04-D3F9-19AD-ECC2-CD409E36994E}"/>
              </a:ext>
            </a:extLst>
          </p:cNvPr>
          <p:cNvSpPr>
            <a:spLocks noGrp="1"/>
          </p:cNvSpPr>
          <p:nvPr>
            <p:ph type="title"/>
          </p:nvPr>
        </p:nvSpPr>
        <p:spPr/>
        <p:txBody>
          <a:bodyPr/>
          <a:lstStyle/>
          <a:p>
            <a:r>
              <a:rPr lang="en-IN" dirty="0"/>
              <a:t>Final Score Computation</a:t>
            </a:r>
          </a:p>
        </p:txBody>
      </p:sp>
      <p:sp>
        <p:nvSpPr>
          <p:cNvPr id="3" name="Content Placeholder 2">
            <a:extLst>
              <a:ext uri="{FF2B5EF4-FFF2-40B4-BE49-F238E27FC236}">
                <a16:creationId xmlns:a16="http://schemas.microsoft.com/office/drawing/2014/main" id="{A831BB9E-8611-4F1B-13D0-4D8F71ABFEDF}"/>
              </a:ext>
            </a:extLst>
          </p:cNvPr>
          <p:cNvSpPr>
            <a:spLocks noGrp="1"/>
          </p:cNvSpPr>
          <p:nvPr>
            <p:ph idx="1"/>
          </p:nvPr>
        </p:nvSpPr>
        <p:spPr/>
        <p:txBody>
          <a:bodyPr>
            <a:normAutofit/>
          </a:bodyPr>
          <a:lstStyle/>
          <a:p>
            <a:r>
              <a:rPr lang="en-US" sz="2000" dirty="0"/>
              <a:t>Once each predicted cluster is assigned to a ground-truth scene, the </a:t>
            </a:r>
            <a:r>
              <a:rPr lang="en-US" sz="2000" dirty="0" err="1"/>
              <a:t>mAA</a:t>
            </a:r>
            <a:r>
              <a:rPr lang="en-US" sz="2000" dirty="0"/>
              <a:t> and clustering scores are aggregated across all scenes in the dataset. These two scores are then combined using the </a:t>
            </a:r>
            <a:r>
              <a:rPr lang="en-US" sz="2000" b="1" dirty="0"/>
              <a:t>harmonic mean</a:t>
            </a:r>
            <a:r>
              <a:rPr lang="en-US" sz="2000" dirty="0"/>
              <a:t>, producing a final score for each dataset:</a:t>
            </a:r>
            <a:endParaRPr lang="en-IN" sz="2000" dirty="0"/>
          </a:p>
        </p:txBody>
      </p:sp>
      <p:pic>
        <p:nvPicPr>
          <p:cNvPr id="5" name="Picture 4">
            <a:extLst>
              <a:ext uri="{FF2B5EF4-FFF2-40B4-BE49-F238E27FC236}">
                <a16:creationId xmlns:a16="http://schemas.microsoft.com/office/drawing/2014/main" id="{75C9222A-69C7-8F59-065E-6795C5207691}"/>
              </a:ext>
            </a:extLst>
          </p:cNvPr>
          <p:cNvPicPr>
            <a:picLocks noChangeAspect="1"/>
          </p:cNvPicPr>
          <p:nvPr/>
        </p:nvPicPr>
        <p:blipFill>
          <a:blip r:embed="rId2"/>
          <a:stretch>
            <a:fillRect/>
          </a:stretch>
        </p:blipFill>
        <p:spPr>
          <a:xfrm>
            <a:off x="4012979" y="3221284"/>
            <a:ext cx="3477110" cy="828791"/>
          </a:xfrm>
          <a:prstGeom prst="rect">
            <a:avLst/>
          </a:prstGeom>
        </p:spPr>
      </p:pic>
      <p:sp>
        <p:nvSpPr>
          <p:cNvPr id="6" name="TextBox 5">
            <a:extLst>
              <a:ext uri="{FF2B5EF4-FFF2-40B4-BE49-F238E27FC236}">
                <a16:creationId xmlns:a16="http://schemas.microsoft.com/office/drawing/2014/main" id="{F8B158D4-B2FC-7CE7-D42A-EFDEB514D30D}"/>
              </a:ext>
            </a:extLst>
          </p:cNvPr>
          <p:cNvSpPr txBox="1"/>
          <p:nvPr/>
        </p:nvSpPr>
        <p:spPr>
          <a:xfrm>
            <a:off x="1083708" y="4546006"/>
            <a:ext cx="9711826" cy="707886"/>
          </a:xfrm>
          <a:prstGeom prst="rect">
            <a:avLst/>
          </a:prstGeom>
          <a:noFill/>
        </p:spPr>
        <p:txBody>
          <a:bodyPr wrap="none" rtlCol="0">
            <a:spAutoFit/>
          </a:bodyPr>
          <a:lstStyle/>
          <a:p>
            <a:r>
              <a:rPr lang="en-US" sz="2000" dirty="0"/>
              <a:t>The final evaluation score is the average of these combined scores across all datasets,</a:t>
            </a:r>
          </a:p>
          <a:p>
            <a:r>
              <a:rPr lang="en-US" sz="2000" dirty="0"/>
              <a:t> balancing both pose estimation accuracy and scene clustering quality.</a:t>
            </a:r>
            <a:endParaRPr lang="en-IN" sz="2000" dirty="0"/>
          </a:p>
        </p:txBody>
      </p:sp>
    </p:spTree>
    <p:extLst>
      <p:ext uri="{BB962C8B-B14F-4D97-AF65-F5344CB8AC3E}">
        <p14:creationId xmlns:p14="http://schemas.microsoft.com/office/powerpoint/2010/main" val="3925648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9C60B-6F62-0BFC-8C27-354F77919F8D}"/>
              </a:ext>
            </a:extLst>
          </p:cNvPr>
          <p:cNvSpPr>
            <a:spLocks noGrp="1"/>
          </p:cNvSpPr>
          <p:nvPr>
            <p:ph type="ctrTitle"/>
          </p:nvPr>
        </p:nvSpPr>
        <p:spPr>
          <a:xfrm>
            <a:off x="1104431" y="2588369"/>
            <a:ext cx="5438259" cy="1681262"/>
          </a:xfrm>
        </p:spPr>
        <p:txBody>
          <a:bodyPr/>
          <a:lstStyle/>
          <a:p>
            <a:r>
              <a:rPr lang="en-IN" dirty="0"/>
              <a:t>Approaches</a:t>
            </a:r>
            <a:br>
              <a:rPr lang="en-IN" dirty="0"/>
            </a:br>
            <a:r>
              <a:rPr lang="en-IN" dirty="0"/>
              <a:t>Used</a:t>
            </a:r>
          </a:p>
        </p:txBody>
      </p:sp>
    </p:spTree>
    <p:extLst>
      <p:ext uri="{BB962C8B-B14F-4D97-AF65-F5344CB8AC3E}">
        <p14:creationId xmlns:p14="http://schemas.microsoft.com/office/powerpoint/2010/main" val="3570576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03003-B929-B179-4B85-7CBE12491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C7B56-133C-765F-0AA1-45C1F28EBD7B}"/>
              </a:ext>
            </a:extLst>
          </p:cNvPr>
          <p:cNvSpPr>
            <a:spLocks noGrp="1"/>
          </p:cNvSpPr>
          <p:nvPr>
            <p:ph type="title"/>
          </p:nvPr>
        </p:nvSpPr>
        <p:spPr>
          <a:xfrm>
            <a:off x="1905000" y="661043"/>
            <a:ext cx="8762999" cy="868679"/>
          </a:xfrm>
        </p:spPr>
        <p:txBody>
          <a:bodyPr/>
          <a:lstStyle/>
          <a:p>
            <a:r>
              <a:rPr lang="en-IN" dirty="0"/>
              <a:t>Pipeline Summary and Architecture</a:t>
            </a:r>
          </a:p>
        </p:txBody>
      </p:sp>
      <p:graphicFrame>
        <p:nvGraphicFramePr>
          <p:cNvPr id="4" name="Diagram 3">
            <a:extLst>
              <a:ext uri="{FF2B5EF4-FFF2-40B4-BE49-F238E27FC236}">
                <a16:creationId xmlns:a16="http://schemas.microsoft.com/office/drawing/2014/main" id="{423D0936-8D8E-8FE9-8CA7-4725B7BC2A02}"/>
              </a:ext>
            </a:extLst>
          </p:cNvPr>
          <p:cNvGraphicFramePr/>
          <p:nvPr>
            <p:extLst>
              <p:ext uri="{D42A27DB-BD31-4B8C-83A1-F6EECF244321}">
                <p14:modId xmlns:p14="http://schemas.microsoft.com/office/powerpoint/2010/main" val="300454818"/>
              </p:ext>
            </p:extLst>
          </p:nvPr>
        </p:nvGraphicFramePr>
        <p:xfrm>
          <a:off x="424022" y="50399"/>
          <a:ext cx="11226800" cy="6598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908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BF0D-4C57-E8C3-5B33-C4DD06DDBDDB}"/>
              </a:ext>
            </a:extLst>
          </p:cNvPr>
          <p:cNvSpPr>
            <a:spLocks noGrp="1"/>
          </p:cNvSpPr>
          <p:nvPr>
            <p:ph type="title"/>
          </p:nvPr>
        </p:nvSpPr>
        <p:spPr/>
        <p:txBody>
          <a:bodyPr/>
          <a:lstStyle/>
          <a:p>
            <a:r>
              <a:rPr lang="en-IN" dirty="0"/>
              <a:t>Feature Extraction using ORB</a:t>
            </a:r>
          </a:p>
        </p:txBody>
      </p:sp>
      <p:sp>
        <p:nvSpPr>
          <p:cNvPr id="3" name="Content Placeholder 2">
            <a:extLst>
              <a:ext uri="{FF2B5EF4-FFF2-40B4-BE49-F238E27FC236}">
                <a16:creationId xmlns:a16="http://schemas.microsoft.com/office/drawing/2014/main" id="{F57ACBB2-01D8-0EC4-21D7-F9D3522BD57D}"/>
              </a:ext>
            </a:extLst>
          </p:cNvPr>
          <p:cNvSpPr>
            <a:spLocks noGrp="1"/>
          </p:cNvSpPr>
          <p:nvPr>
            <p:ph idx="1"/>
          </p:nvPr>
        </p:nvSpPr>
        <p:spPr>
          <a:xfrm>
            <a:off x="1158865" y="2017467"/>
            <a:ext cx="9779182" cy="4402122"/>
          </a:xfrm>
        </p:spPr>
        <p:txBody>
          <a:bodyPr>
            <a:normAutofit/>
          </a:bodyPr>
          <a:lstStyle/>
          <a:p>
            <a:r>
              <a:rPr lang="en-US" sz="2400" dirty="0"/>
              <a:t>Feature detection and description are performed using the Oriented FAST and Rotated BRIEF (ORB) algorithm, chosen for its speed and rotation invariance. ORB detects </a:t>
            </a:r>
            <a:r>
              <a:rPr lang="en-US" sz="2400" dirty="0" err="1"/>
              <a:t>keypoints</a:t>
            </a:r>
            <a:r>
              <a:rPr lang="en-US" sz="2400" dirty="0"/>
              <a:t> and computes binary descriptors for each image: </a:t>
            </a:r>
          </a:p>
          <a:p>
            <a:endParaRPr lang="en-US" sz="2400" dirty="0"/>
          </a:p>
          <a:p>
            <a:r>
              <a:rPr lang="en-US" sz="2400" dirty="0" err="1"/>
              <a:t>ORBfeatures</a:t>
            </a:r>
            <a:r>
              <a:rPr lang="en-US" sz="2400" dirty="0"/>
              <a:t> = ORB create(n = 1000) </a:t>
            </a:r>
          </a:p>
          <a:p>
            <a:endParaRPr lang="en-US" sz="2400" dirty="0"/>
          </a:p>
          <a:p>
            <a:r>
              <a:rPr lang="en-US" sz="2400" dirty="0" err="1"/>
              <a:t>Keypoints</a:t>
            </a:r>
            <a:r>
              <a:rPr lang="en-US" sz="2400" dirty="0"/>
              <a:t> and descriptors are obtained using </a:t>
            </a:r>
            <a:r>
              <a:rPr lang="en-US" sz="2400" dirty="0" err="1"/>
              <a:t>orb.detectAndCompute</a:t>
            </a:r>
            <a:r>
              <a:rPr lang="en-US" sz="2400" dirty="0"/>
              <a:t>(image, None), which provides a compact representation of salient regions in the image. </a:t>
            </a:r>
            <a:endParaRPr lang="en-IN" sz="2400" dirty="0"/>
          </a:p>
        </p:txBody>
      </p:sp>
    </p:spTree>
    <p:extLst>
      <p:ext uri="{BB962C8B-B14F-4D97-AF65-F5344CB8AC3E}">
        <p14:creationId xmlns:p14="http://schemas.microsoft.com/office/powerpoint/2010/main" val="150151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541E9-3782-8C36-E055-3BC6FB222D19}"/>
              </a:ext>
            </a:extLst>
          </p:cNvPr>
          <p:cNvSpPr>
            <a:spLocks noGrp="1"/>
          </p:cNvSpPr>
          <p:nvPr>
            <p:ph type="title"/>
          </p:nvPr>
        </p:nvSpPr>
        <p:spPr>
          <a:xfrm>
            <a:off x="1158864" y="102021"/>
            <a:ext cx="10715810" cy="1219475"/>
          </a:xfrm>
        </p:spPr>
        <p:txBody>
          <a:bodyPr/>
          <a:lstStyle/>
          <a:p>
            <a:r>
              <a:rPr lang="en-US" dirty="0"/>
              <a:t>Image Matching using Brute-Force Matcher</a:t>
            </a:r>
            <a:endParaRPr lang="en-IN" dirty="0"/>
          </a:p>
        </p:txBody>
      </p:sp>
      <p:sp>
        <p:nvSpPr>
          <p:cNvPr id="3" name="Content Placeholder 2">
            <a:extLst>
              <a:ext uri="{FF2B5EF4-FFF2-40B4-BE49-F238E27FC236}">
                <a16:creationId xmlns:a16="http://schemas.microsoft.com/office/drawing/2014/main" id="{4D3F323F-0AE3-0797-D9F1-A1278D0B32E8}"/>
              </a:ext>
            </a:extLst>
          </p:cNvPr>
          <p:cNvSpPr>
            <a:spLocks noGrp="1"/>
          </p:cNvSpPr>
          <p:nvPr>
            <p:ph idx="1"/>
          </p:nvPr>
        </p:nvSpPr>
        <p:spPr>
          <a:xfrm>
            <a:off x="1206409" y="1635424"/>
            <a:ext cx="10549268" cy="4840533"/>
          </a:xfrm>
        </p:spPr>
        <p:txBody>
          <a:bodyPr>
            <a:normAutofit/>
          </a:bodyPr>
          <a:lstStyle/>
          <a:p>
            <a:r>
              <a:rPr lang="en-US" sz="2400" dirty="0"/>
              <a:t>Pairwise image matching is performed using the Brute-Force matcher with Hamming distance metric, suitable for binary descriptors:</a:t>
            </a:r>
          </a:p>
          <a:p>
            <a:endParaRPr lang="en-US" sz="2400" dirty="0"/>
          </a:p>
          <a:p>
            <a:r>
              <a:rPr lang="en-US" sz="2400" dirty="0"/>
              <a:t>matches = </a:t>
            </a:r>
            <a:r>
              <a:rPr lang="en-US" sz="2400" dirty="0" err="1"/>
              <a:t>BFMatcher</a:t>
            </a:r>
            <a:r>
              <a:rPr lang="en-US" sz="2400" dirty="0"/>
              <a:t>(cv2.NORM HAMMING, </a:t>
            </a:r>
            <a:r>
              <a:rPr lang="en-US" sz="2400" dirty="0" err="1"/>
              <a:t>crossCheck</a:t>
            </a:r>
            <a:r>
              <a:rPr lang="en-US" sz="2400" dirty="0"/>
              <a:t>=True).match(des1, des2)</a:t>
            </a:r>
          </a:p>
          <a:p>
            <a:endParaRPr lang="en-US" sz="2400" dirty="0"/>
          </a:p>
          <a:p>
            <a:r>
              <a:rPr lang="en-US" sz="2400" dirty="0"/>
              <a:t>The matches are then sorted by descriptor distance, and top-N matches are visualized using cv2.drawMatches() to validate visual correspondence. This step aids in detecting strong visual overlaps between image pairs, which serves as a proxy for scene similarity.</a:t>
            </a:r>
            <a:endParaRPr lang="en-IN" sz="2400" dirty="0"/>
          </a:p>
        </p:txBody>
      </p:sp>
    </p:spTree>
    <p:extLst>
      <p:ext uri="{BB962C8B-B14F-4D97-AF65-F5344CB8AC3E}">
        <p14:creationId xmlns:p14="http://schemas.microsoft.com/office/powerpoint/2010/main" val="1881554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F163B-3885-DC46-F28F-167A1F312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E7FC9-7373-9992-A494-848F083C19C4}"/>
              </a:ext>
            </a:extLst>
          </p:cNvPr>
          <p:cNvSpPr>
            <a:spLocks noGrp="1"/>
          </p:cNvSpPr>
          <p:nvPr>
            <p:ph type="title"/>
          </p:nvPr>
        </p:nvSpPr>
        <p:spPr>
          <a:xfrm>
            <a:off x="1158864" y="621851"/>
            <a:ext cx="10715810" cy="1219475"/>
          </a:xfrm>
        </p:spPr>
        <p:txBody>
          <a:bodyPr/>
          <a:lstStyle/>
          <a:p>
            <a:r>
              <a:rPr lang="en-IN" dirty="0"/>
              <a:t>Scene Similarity Analysis</a:t>
            </a:r>
          </a:p>
        </p:txBody>
      </p:sp>
      <p:sp>
        <p:nvSpPr>
          <p:cNvPr id="3" name="Content Placeholder 2">
            <a:extLst>
              <a:ext uri="{FF2B5EF4-FFF2-40B4-BE49-F238E27FC236}">
                <a16:creationId xmlns:a16="http://schemas.microsoft.com/office/drawing/2014/main" id="{CB78492D-927A-0B6F-1790-C62EA229ABFC}"/>
              </a:ext>
            </a:extLst>
          </p:cNvPr>
          <p:cNvSpPr>
            <a:spLocks noGrp="1"/>
          </p:cNvSpPr>
          <p:nvPr>
            <p:ph idx="1"/>
          </p:nvPr>
        </p:nvSpPr>
        <p:spPr>
          <a:xfrm>
            <a:off x="1158864" y="2305566"/>
            <a:ext cx="10549268" cy="4840533"/>
          </a:xfrm>
        </p:spPr>
        <p:txBody>
          <a:bodyPr>
            <a:normAutofit/>
          </a:bodyPr>
          <a:lstStyle/>
          <a:p>
            <a:r>
              <a:rPr lang="en-US" dirty="0"/>
              <a:t>To evaluate which images belong to the same scene, the similarity between images is inferred from the number and quality of feature matches. A higher number of consistent matches indicates higher likelihood of shared scene content</a:t>
            </a:r>
            <a:endParaRPr lang="en-IN" sz="4000" dirty="0"/>
          </a:p>
        </p:txBody>
      </p:sp>
    </p:spTree>
    <p:extLst>
      <p:ext uri="{BB962C8B-B14F-4D97-AF65-F5344CB8AC3E}">
        <p14:creationId xmlns:p14="http://schemas.microsoft.com/office/powerpoint/2010/main" val="2494331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880F-DFC2-E353-D28B-ACDBF73B85E5}"/>
              </a:ext>
            </a:extLst>
          </p:cNvPr>
          <p:cNvSpPr>
            <a:spLocks noGrp="1"/>
          </p:cNvSpPr>
          <p:nvPr>
            <p:ph type="title"/>
          </p:nvPr>
        </p:nvSpPr>
        <p:spPr/>
        <p:txBody>
          <a:bodyPr/>
          <a:lstStyle/>
          <a:p>
            <a:r>
              <a:rPr lang="en-IN" dirty="0"/>
              <a:t>Clustering with DBSCAN</a:t>
            </a:r>
          </a:p>
        </p:txBody>
      </p:sp>
      <p:sp>
        <p:nvSpPr>
          <p:cNvPr id="3" name="Content Placeholder 2">
            <a:extLst>
              <a:ext uri="{FF2B5EF4-FFF2-40B4-BE49-F238E27FC236}">
                <a16:creationId xmlns:a16="http://schemas.microsoft.com/office/drawing/2014/main" id="{831C8D48-C7C0-B00F-9A49-761E14BA200F}"/>
              </a:ext>
            </a:extLst>
          </p:cNvPr>
          <p:cNvSpPr>
            <a:spLocks noGrp="1"/>
          </p:cNvSpPr>
          <p:nvPr>
            <p:ph idx="1"/>
          </p:nvPr>
        </p:nvSpPr>
        <p:spPr>
          <a:xfrm>
            <a:off x="1158865" y="2017467"/>
            <a:ext cx="9779182" cy="4289388"/>
          </a:xfrm>
        </p:spPr>
        <p:txBody>
          <a:bodyPr>
            <a:normAutofit/>
          </a:bodyPr>
          <a:lstStyle/>
          <a:p>
            <a:r>
              <a:rPr lang="en-US" sz="2000" dirty="0"/>
              <a:t>To group images into scenes, the density-based spatial clustering algorithm DBSCAN is employed. Since the direct feature vectors are not used for clustering due to their high dimensionality, a similarity matrix or derived spatial descriptors can be constructed and passed to DBSCAN. The algorithm groups images that exhibit high mutual feature correspondence and flags outliers that fail to match consistently: </a:t>
            </a:r>
          </a:p>
          <a:p>
            <a:endParaRPr lang="en-US" sz="2000" dirty="0"/>
          </a:p>
          <a:p>
            <a:r>
              <a:rPr lang="en-US" sz="2000" dirty="0"/>
              <a:t>DBSCAN(ε, </a:t>
            </a:r>
            <a:r>
              <a:rPr lang="en-US" sz="2000" dirty="0" err="1"/>
              <a:t>minPts</a:t>
            </a:r>
            <a:r>
              <a:rPr lang="en-US" sz="2000" dirty="0"/>
              <a:t>) → Clusters + Outliers</a:t>
            </a:r>
          </a:p>
          <a:p>
            <a:endParaRPr lang="en-US" sz="2000" dirty="0"/>
          </a:p>
          <a:p>
            <a:r>
              <a:rPr lang="en-US" sz="2000" dirty="0"/>
              <a:t>DBSCAN is well-suited to this task as it does not require the number of clusters in advance and can effectively handle noise and outliers.</a:t>
            </a:r>
            <a:endParaRPr lang="en-IN" sz="3200" dirty="0"/>
          </a:p>
        </p:txBody>
      </p:sp>
    </p:spTree>
    <p:extLst>
      <p:ext uri="{BB962C8B-B14F-4D97-AF65-F5344CB8AC3E}">
        <p14:creationId xmlns:p14="http://schemas.microsoft.com/office/powerpoint/2010/main" val="3147582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0B95-2091-5DBE-8EF9-E245DBF9E7B6}"/>
              </a:ext>
            </a:extLst>
          </p:cNvPr>
          <p:cNvSpPr>
            <a:spLocks noGrp="1"/>
          </p:cNvSpPr>
          <p:nvPr>
            <p:ph type="title"/>
          </p:nvPr>
        </p:nvSpPr>
        <p:spPr/>
        <p:txBody>
          <a:bodyPr/>
          <a:lstStyle/>
          <a:p>
            <a:r>
              <a:rPr lang="en-IN" dirty="0"/>
              <a:t>Pose Estimation (Planned)</a:t>
            </a:r>
          </a:p>
        </p:txBody>
      </p:sp>
      <p:sp>
        <p:nvSpPr>
          <p:cNvPr id="3" name="Content Placeholder 2">
            <a:extLst>
              <a:ext uri="{FF2B5EF4-FFF2-40B4-BE49-F238E27FC236}">
                <a16:creationId xmlns:a16="http://schemas.microsoft.com/office/drawing/2014/main" id="{ED1CD59B-778E-D37F-02AA-78DD6E91E8E4}"/>
              </a:ext>
            </a:extLst>
          </p:cNvPr>
          <p:cNvSpPr>
            <a:spLocks noGrp="1"/>
          </p:cNvSpPr>
          <p:nvPr>
            <p:ph idx="1"/>
          </p:nvPr>
        </p:nvSpPr>
        <p:spPr>
          <a:xfrm>
            <a:off x="1158864" y="2349407"/>
            <a:ext cx="9779182" cy="3366815"/>
          </a:xfrm>
        </p:spPr>
        <p:txBody>
          <a:bodyPr>
            <a:normAutofit/>
          </a:bodyPr>
          <a:lstStyle/>
          <a:p>
            <a:r>
              <a:rPr lang="en-US" sz="2400" dirty="0"/>
              <a:t>Although the current implementation does not include pose estimation, the overall pipeline is structured to integrate camera pose recovery using Structure-from-Motion (</a:t>
            </a:r>
            <a:r>
              <a:rPr lang="en-US" sz="2400" dirty="0" err="1"/>
              <a:t>SfM</a:t>
            </a:r>
            <a:r>
              <a:rPr lang="en-US" sz="2400" dirty="0"/>
              <a:t>) techniques in future iterations. Once scene-level grouping is stable, pose estimation can be applied independently per cluster.</a:t>
            </a:r>
            <a:endParaRPr lang="en-IN" sz="2400" dirty="0"/>
          </a:p>
        </p:txBody>
      </p:sp>
    </p:spTree>
    <p:extLst>
      <p:ext uri="{BB962C8B-B14F-4D97-AF65-F5344CB8AC3E}">
        <p14:creationId xmlns:p14="http://schemas.microsoft.com/office/powerpoint/2010/main" val="3663180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E7493-B30C-3834-90D7-26BFD93316A7}"/>
              </a:ext>
            </a:extLst>
          </p:cNvPr>
          <p:cNvSpPr>
            <a:spLocks noGrp="1"/>
          </p:cNvSpPr>
          <p:nvPr>
            <p:ph type="title"/>
          </p:nvPr>
        </p:nvSpPr>
        <p:spPr/>
        <p:txBody>
          <a:bodyPr/>
          <a:lstStyle/>
          <a:p>
            <a:r>
              <a:rPr lang="en-IN" dirty="0"/>
              <a:t>Evaluation Alignment</a:t>
            </a:r>
          </a:p>
        </p:txBody>
      </p:sp>
      <p:sp>
        <p:nvSpPr>
          <p:cNvPr id="3" name="Content Placeholder 2">
            <a:extLst>
              <a:ext uri="{FF2B5EF4-FFF2-40B4-BE49-F238E27FC236}">
                <a16:creationId xmlns:a16="http://schemas.microsoft.com/office/drawing/2014/main" id="{FFBF35E2-18F6-6F87-59C2-AF3C4776780D}"/>
              </a:ext>
            </a:extLst>
          </p:cNvPr>
          <p:cNvSpPr>
            <a:spLocks noGrp="1"/>
          </p:cNvSpPr>
          <p:nvPr>
            <p:ph idx="1"/>
          </p:nvPr>
        </p:nvSpPr>
        <p:spPr>
          <a:xfrm>
            <a:off x="1158865" y="2224146"/>
            <a:ext cx="9779182" cy="3366815"/>
          </a:xfrm>
        </p:spPr>
        <p:txBody>
          <a:bodyPr>
            <a:normAutofit/>
          </a:bodyPr>
          <a:lstStyle/>
          <a:p>
            <a:r>
              <a:rPr lang="en-US" sz="2400" dirty="0"/>
              <a:t>The pipeline is aligned with the competition’s evaluation strategy. Matching and clustering aim to maximize both mean Average Accuracy (</a:t>
            </a:r>
            <a:r>
              <a:rPr lang="en-US" sz="2400" dirty="0" err="1"/>
              <a:t>mAA</a:t>
            </a:r>
            <a:r>
              <a:rPr lang="en-US" sz="2400" dirty="0"/>
              <a:t>) and clustering score by ensuring correct image-to-scene assignment while maintaining high internal coherence within clusters.</a:t>
            </a:r>
            <a:endParaRPr lang="en-IN" sz="2400" dirty="0"/>
          </a:p>
        </p:txBody>
      </p:sp>
    </p:spTree>
    <p:extLst>
      <p:ext uri="{BB962C8B-B14F-4D97-AF65-F5344CB8AC3E}">
        <p14:creationId xmlns:p14="http://schemas.microsoft.com/office/powerpoint/2010/main" val="1541134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EF3B-4282-C7F1-6945-7867A8E5A2E1}"/>
              </a:ext>
            </a:extLst>
          </p:cNvPr>
          <p:cNvSpPr>
            <a:spLocks noGrp="1"/>
          </p:cNvSpPr>
          <p:nvPr>
            <p:ph type="title"/>
          </p:nvPr>
        </p:nvSpPr>
        <p:spPr/>
        <p:txBody>
          <a:bodyPr/>
          <a:lstStyle/>
          <a:p>
            <a:r>
              <a:rPr lang="en-IN" dirty="0"/>
              <a:t>Visualization and Validation</a:t>
            </a:r>
          </a:p>
        </p:txBody>
      </p:sp>
      <p:sp>
        <p:nvSpPr>
          <p:cNvPr id="3" name="Content Placeholder 2">
            <a:extLst>
              <a:ext uri="{FF2B5EF4-FFF2-40B4-BE49-F238E27FC236}">
                <a16:creationId xmlns:a16="http://schemas.microsoft.com/office/drawing/2014/main" id="{CFFAAC37-9B2D-6F10-0136-BC8DAC677580}"/>
              </a:ext>
            </a:extLst>
          </p:cNvPr>
          <p:cNvSpPr>
            <a:spLocks noGrp="1"/>
          </p:cNvSpPr>
          <p:nvPr>
            <p:ph idx="1"/>
          </p:nvPr>
        </p:nvSpPr>
        <p:spPr>
          <a:xfrm>
            <a:off x="1158865" y="2017467"/>
            <a:ext cx="9779182" cy="4195443"/>
          </a:xfrm>
        </p:spPr>
        <p:txBody>
          <a:bodyPr>
            <a:normAutofit/>
          </a:bodyPr>
          <a:lstStyle/>
          <a:p>
            <a:r>
              <a:rPr lang="en-US" sz="2000" dirty="0"/>
              <a:t>Matched </a:t>
            </a:r>
            <a:r>
              <a:rPr lang="en-US" sz="2000" dirty="0" err="1"/>
              <a:t>keypoints</a:t>
            </a:r>
            <a:r>
              <a:rPr lang="en-US" sz="2000" dirty="0"/>
              <a:t> between pairs of images are visualized using matplotlib and OpenCV, enabling qualitative validation of matching accuracy and scene consistency. This step is critical for identifying poor-quality matches or scenes with visual ambiguity.</a:t>
            </a:r>
          </a:p>
          <a:p>
            <a:endParaRPr lang="en-US" sz="2000" dirty="0"/>
          </a:p>
          <a:p>
            <a:r>
              <a:rPr lang="en-IN" sz="2000" dirty="0"/>
              <a:t>This modular pipeline offers flexibility in experimenting with different feature extractors (e.g., SIFT, </a:t>
            </a:r>
            <a:r>
              <a:rPr lang="en-IN" sz="2000" dirty="0" err="1"/>
              <a:t>SuperPoint</a:t>
            </a:r>
            <a:r>
              <a:rPr lang="en-IN" sz="2000" dirty="0"/>
              <a:t>), matching strategies (e.g., FLANN), and clustering techniques (e.g., Agglomerative Clustering), facilitating iterative improvements in both grouping accuracy and geometric reconstruction.</a:t>
            </a:r>
          </a:p>
        </p:txBody>
      </p:sp>
    </p:spTree>
    <p:extLst>
      <p:ext uri="{BB962C8B-B14F-4D97-AF65-F5344CB8AC3E}">
        <p14:creationId xmlns:p14="http://schemas.microsoft.com/office/powerpoint/2010/main" val="1596479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4510-9DAC-ABF4-9265-10CAA9C01445}"/>
              </a:ext>
            </a:extLst>
          </p:cNvPr>
          <p:cNvSpPr>
            <a:spLocks noGrp="1"/>
          </p:cNvSpPr>
          <p:nvPr>
            <p:ph type="ctrTitle"/>
          </p:nvPr>
        </p:nvSpPr>
        <p:spPr>
          <a:xfrm>
            <a:off x="1192546" y="835169"/>
            <a:ext cx="6245912" cy="3269447"/>
          </a:xfrm>
        </p:spPr>
        <p:txBody>
          <a:bodyPr/>
          <a:lstStyle/>
          <a:p>
            <a:r>
              <a:rPr lang="en-IN" dirty="0"/>
              <a:t>INBUILT functions</a:t>
            </a:r>
            <a:br>
              <a:rPr lang="en-IN" dirty="0"/>
            </a:br>
            <a:r>
              <a:rPr lang="en-IN" dirty="0"/>
              <a:t>used</a:t>
            </a:r>
          </a:p>
        </p:txBody>
      </p:sp>
    </p:spTree>
    <p:extLst>
      <p:ext uri="{BB962C8B-B14F-4D97-AF65-F5344CB8AC3E}">
        <p14:creationId xmlns:p14="http://schemas.microsoft.com/office/powerpoint/2010/main" val="1473018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81336-72D9-B8C5-757A-132185BC193C}"/>
              </a:ext>
            </a:extLst>
          </p:cNvPr>
          <p:cNvSpPr>
            <a:spLocks noGrp="1"/>
          </p:cNvSpPr>
          <p:nvPr>
            <p:ph type="title"/>
          </p:nvPr>
        </p:nvSpPr>
        <p:spPr/>
        <p:txBody>
          <a:bodyPr/>
          <a:lstStyle/>
          <a:p>
            <a:r>
              <a:rPr lang="en-US" dirty="0"/>
              <a:t>cv2.ORB create(</a:t>
            </a:r>
            <a:r>
              <a:rPr lang="en-US" dirty="0" err="1"/>
              <a:t>nfeatures</a:t>
            </a:r>
            <a:r>
              <a:rPr lang="en-US" dirty="0"/>
              <a:t>=1000)</a:t>
            </a:r>
            <a:endParaRPr lang="en-IN" dirty="0"/>
          </a:p>
        </p:txBody>
      </p:sp>
      <p:sp>
        <p:nvSpPr>
          <p:cNvPr id="3" name="Content Placeholder 2">
            <a:extLst>
              <a:ext uri="{FF2B5EF4-FFF2-40B4-BE49-F238E27FC236}">
                <a16:creationId xmlns:a16="http://schemas.microsoft.com/office/drawing/2014/main" id="{8A9D8064-1C12-A1CC-59FB-4A7139633498}"/>
              </a:ext>
            </a:extLst>
          </p:cNvPr>
          <p:cNvSpPr>
            <a:spLocks noGrp="1"/>
          </p:cNvSpPr>
          <p:nvPr>
            <p:ph idx="1"/>
          </p:nvPr>
        </p:nvSpPr>
        <p:spPr>
          <a:xfrm>
            <a:off x="1158865" y="2017467"/>
            <a:ext cx="9779182" cy="4738512"/>
          </a:xfrm>
        </p:spPr>
        <p:txBody>
          <a:bodyPr>
            <a:normAutofit/>
          </a:bodyPr>
          <a:lstStyle/>
          <a:p>
            <a:r>
              <a:rPr lang="en-US" sz="2000" dirty="0"/>
              <a:t>ORB (Oriented FAST and Rotated BRIEF) is a fast and efficient feature detector and descriptor that combines the strengths of two techniques:</a:t>
            </a:r>
          </a:p>
          <a:p>
            <a:endParaRPr lang="en-US" sz="2000" dirty="0"/>
          </a:p>
          <a:p>
            <a:r>
              <a:rPr lang="en-US" sz="2000" dirty="0"/>
              <a:t>• FAST (Features from Accelerated Segment Test) is used to detect </a:t>
            </a:r>
            <a:r>
              <a:rPr lang="en-US" sz="2000" dirty="0" err="1"/>
              <a:t>keypoints</a:t>
            </a:r>
            <a:r>
              <a:rPr lang="en-US" sz="2000" dirty="0"/>
              <a:t> quickly. It detects corners in the image by comparing the brightness of a pixel with its surrounding pixels arranged in a circle. If a set of contiguous pixels are significantly brighter or darker, the pixel is marked as a corner. </a:t>
            </a:r>
          </a:p>
          <a:p>
            <a:endParaRPr lang="en-US" sz="2000" dirty="0"/>
          </a:p>
          <a:p>
            <a:r>
              <a:rPr lang="en-US" sz="2000" dirty="0"/>
              <a:t>• BRIEF (Binary Robust Independent Elementary Features) is used to compute descriptors for the detected </a:t>
            </a:r>
            <a:r>
              <a:rPr lang="en-US" sz="2000" dirty="0" err="1"/>
              <a:t>keypoints</a:t>
            </a:r>
            <a:r>
              <a:rPr lang="en-US" sz="2000" dirty="0"/>
              <a:t>. BRIEF produces binary strings by comparing pixel intensities within a local image patch, making it extremely compact and fast for matching</a:t>
            </a:r>
            <a:endParaRPr lang="en-IN" sz="2000" dirty="0"/>
          </a:p>
        </p:txBody>
      </p:sp>
    </p:spTree>
    <p:extLst>
      <p:ext uri="{BB962C8B-B14F-4D97-AF65-F5344CB8AC3E}">
        <p14:creationId xmlns:p14="http://schemas.microsoft.com/office/powerpoint/2010/main" val="1195411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48455-1C23-A8E3-B592-91EA19A8E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07C57-4CEA-C2C0-96C0-A00C8DCC4275}"/>
              </a:ext>
            </a:extLst>
          </p:cNvPr>
          <p:cNvSpPr>
            <a:spLocks noGrp="1"/>
          </p:cNvSpPr>
          <p:nvPr>
            <p:ph type="title"/>
          </p:nvPr>
        </p:nvSpPr>
        <p:spPr/>
        <p:txBody>
          <a:bodyPr/>
          <a:lstStyle/>
          <a:p>
            <a:r>
              <a:rPr lang="en-US" dirty="0"/>
              <a:t>cv2.ORB create(</a:t>
            </a:r>
            <a:r>
              <a:rPr lang="en-US" dirty="0" err="1"/>
              <a:t>nfeatures</a:t>
            </a:r>
            <a:r>
              <a:rPr lang="en-US" dirty="0"/>
              <a:t>=1000)</a:t>
            </a:r>
            <a:endParaRPr lang="en-IN" dirty="0"/>
          </a:p>
        </p:txBody>
      </p:sp>
      <p:sp>
        <p:nvSpPr>
          <p:cNvPr id="3" name="Content Placeholder 2">
            <a:extLst>
              <a:ext uri="{FF2B5EF4-FFF2-40B4-BE49-F238E27FC236}">
                <a16:creationId xmlns:a16="http://schemas.microsoft.com/office/drawing/2014/main" id="{DDD50B5B-1E37-878D-E081-8E80D3029026}"/>
              </a:ext>
            </a:extLst>
          </p:cNvPr>
          <p:cNvSpPr>
            <a:spLocks noGrp="1"/>
          </p:cNvSpPr>
          <p:nvPr>
            <p:ph idx="1"/>
          </p:nvPr>
        </p:nvSpPr>
        <p:spPr>
          <a:xfrm>
            <a:off x="1158865" y="2017467"/>
            <a:ext cx="9779182" cy="4738512"/>
          </a:xfrm>
        </p:spPr>
        <p:txBody>
          <a:bodyPr>
            <a:normAutofit/>
          </a:bodyPr>
          <a:lstStyle/>
          <a:p>
            <a:r>
              <a:rPr lang="en-US" sz="1800" dirty="0"/>
              <a:t>ORB enhances BRIEF by adding rotation invariance and orientation compensation. It also uses the Harris corner measure to rank </a:t>
            </a:r>
            <a:r>
              <a:rPr lang="en-US" sz="1800" dirty="0" err="1"/>
              <a:t>keypoints</a:t>
            </a:r>
            <a:r>
              <a:rPr lang="en-US" sz="1800" dirty="0"/>
              <a:t> and selects the top n features based on response strength, where </a:t>
            </a:r>
            <a:r>
              <a:rPr lang="en-US" sz="1800" dirty="0" err="1"/>
              <a:t>nfeatures</a:t>
            </a:r>
            <a:r>
              <a:rPr lang="en-US" sz="1800" dirty="0"/>
              <a:t>=1000 specifies the maximum number of features to retain. </a:t>
            </a:r>
          </a:p>
          <a:p>
            <a:endParaRPr lang="en-US" sz="1800" dirty="0"/>
          </a:p>
          <a:p>
            <a:r>
              <a:rPr lang="en-US" sz="1800" dirty="0"/>
              <a:t>Working: </a:t>
            </a:r>
          </a:p>
          <a:p>
            <a:r>
              <a:rPr lang="en-US" sz="1800" dirty="0"/>
              <a:t>• Internally, ORB detects </a:t>
            </a:r>
            <a:r>
              <a:rPr lang="en-US" sz="1800" dirty="0" err="1"/>
              <a:t>keypoints</a:t>
            </a:r>
            <a:r>
              <a:rPr lang="en-US" sz="1800" dirty="0"/>
              <a:t> using FAST, then computes orientation based on image moments. </a:t>
            </a:r>
          </a:p>
          <a:p>
            <a:r>
              <a:rPr lang="en-US" sz="1800" dirty="0"/>
              <a:t>• The descriptors are generated using BRIEF after aligning them based on the orientation. </a:t>
            </a:r>
          </a:p>
          <a:p>
            <a:r>
              <a:rPr lang="en-US" sz="1800" dirty="0"/>
              <a:t>• The result is a set of </a:t>
            </a:r>
            <a:r>
              <a:rPr lang="en-US" sz="1800" dirty="0" err="1"/>
              <a:t>keypoints</a:t>
            </a:r>
            <a:r>
              <a:rPr lang="en-US" sz="1800" dirty="0"/>
              <a:t> and corresponding binary descriptors that are compact and rotation invariant. </a:t>
            </a:r>
          </a:p>
          <a:p>
            <a:endParaRPr lang="en-US" sz="1800" dirty="0"/>
          </a:p>
          <a:p>
            <a:r>
              <a:rPr lang="en-US" sz="1800" dirty="0"/>
              <a:t>This makes ORB a practical alternative to SIFT and SURF, especially when computational efficiency and licensing (ORB is free and open-source) are critical.</a:t>
            </a:r>
            <a:endParaRPr lang="en-IN" dirty="0"/>
          </a:p>
        </p:txBody>
      </p:sp>
    </p:spTree>
    <p:extLst>
      <p:ext uri="{BB962C8B-B14F-4D97-AF65-F5344CB8AC3E}">
        <p14:creationId xmlns:p14="http://schemas.microsoft.com/office/powerpoint/2010/main" val="3987207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9C77-C650-DCB0-61B4-5237CD55E599}"/>
              </a:ext>
            </a:extLst>
          </p:cNvPr>
          <p:cNvSpPr>
            <a:spLocks noGrp="1"/>
          </p:cNvSpPr>
          <p:nvPr>
            <p:ph type="title"/>
          </p:nvPr>
        </p:nvSpPr>
        <p:spPr/>
        <p:txBody>
          <a:bodyPr/>
          <a:lstStyle/>
          <a:p>
            <a:r>
              <a:rPr lang="en-US" dirty="0"/>
              <a:t>cv2.BFMatcher(cv2.NORM HAMMING, </a:t>
            </a:r>
            <a:r>
              <a:rPr lang="en-US" dirty="0" err="1"/>
              <a:t>crossCheck</a:t>
            </a:r>
            <a:r>
              <a:rPr lang="en-US" dirty="0"/>
              <a:t>=True)</a:t>
            </a:r>
            <a:endParaRPr lang="en-IN" dirty="0"/>
          </a:p>
        </p:txBody>
      </p:sp>
      <p:sp>
        <p:nvSpPr>
          <p:cNvPr id="3" name="Content Placeholder 2">
            <a:extLst>
              <a:ext uri="{FF2B5EF4-FFF2-40B4-BE49-F238E27FC236}">
                <a16:creationId xmlns:a16="http://schemas.microsoft.com/office/drawing/2014/main" id="{18030B3B-4C04-AE5D-D4F8-89CB62D49C3F}"/>
              </a:ext>
            </a:extLst>
          </p:cNvPr>
          <p:cNvSpPr>
            <a:spLocks noGrp="1"/>
          </p:cNvSpPr>
          <p:nvPr>
            <p:ph idx="1"/>
          </p:nvPr>
        </p:nvSpPr>
        <p:spPr>
          <a:xfrm>
            <a:off x="1158865" y="2017467"/>
            <a:ext cx="9779182" cy="4145338"/>
          </a:xfrm>
        </p:spPr>
        <p:txBody>
          <a:bodyPr>
            <a:normAutofit/>
          </a:bodyPr>
          <a:lstStyle/>
          <a:p>
            <a:r>
              <a:rPr lang="en-US" sz="1800" dirty="0" err="1"/>
              <a:t>BFMatcher</a:t>
            </a:r>
            <a:r>
              <a:rPr lang="en-US" sz="1800" dirty="0"/>
              <a:t> stands for Brute-Force Matcher, a matching algorithm that compares each descriptor from one set with every descriptor from another set to find the best matches based on a distance metric.</a:t>
            </a:r>
          </a:p>
          <a:p>
            <a:endParaRPr lang="en-US" sz="1800" dirty="0"/>
          </a:p>
          <a:p>
            <a:r>
              <a:rPr lang="en-US" sz="1800" dirty="0"/>
              <a:t> In the context of ORB, the descriptors are binary (consisting of 0s and 1s), so the appropriate distance metric is cv2.NORM HAMMING, which computes the Hamming distance between two binary strings — the number of differing bits. </a:t>
            </a:r>
          </a:p>
          <a:p>
            <a:endParaRPr lang="en-US" sz="1800" dirty="0"/>
          </a:p>
          <a:p>
            <a:r>
              <a:rPr lang="en-US" sz="1800" dirty="0"/>
              <a:t>The parameter </a:t>
            </a:r>
            <a:r>
              <a:rPr lang="en-US" sz="1800" dirty="0" err="1"/>
              <a:t>crossCheck</a:t>
            </a:r>
            <a:r>
              <a:rPr lang="en-US" sz="1800" dirty="0"/>
              <a:t>=True enforces a two-way match condition: a descriptor Ai from image A must find </a:t>
            </a:r>
            <a:r>
              <a:rPr lang="en-US" sz="1800" dirty="0" err="1"/>
              <a:t>Bj</a:t>
            </a:r>
            <a:r>
              <a:rPr lang="en-US" sz="1800" dirty="0"/>
              <a:t> in image B as its best match, and </a:t>
            </a:r>
            <a:r>
              <a:rPr lang="en-US" sz="1800" dirty="0" err="1"/>
              <a:t>Bj</a:t>
            </a:r>
            <a:r>
              <a:rPr lang="en-US" sz="1800" dirty="0"/>
              <a:t> must also return Ai as its best match in reverse. This bidirectional constraint improves the reliability of the matches by filtering out asymmetric and spurious correspondences.</a:t>
            </a:r>
            <a:endParaRPr lang="en-IN" sz="1800" dirty="0"/>
          </a:p>
        </p:txBody>
      </p:sp>
    </p:spTree>
    <p:extLst>
      <p:ext uri="{BB962C8B-B14F-4D97-AF65-F5344CB8AC3E}">
        <p14:creationId xmlns:p14="http://schemas.microsoft.com/office/powerpoint/2010/main" val="1410498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FE433-1A82-4DB8-6106-D9676E812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7358D-C34F-F0EE-1590-62796EF32376}"/>
              </a:ext>
            </a:extLst>
          </p:cNvPr>
          <p:cNvSpPr>
            <a:spLocks noGrp="1"/>
          </p:cNvSpPr>
          <p:nvPr>
            <p:ph type="title"/>
          </p:nvPr>
        </p:nvSpPr>
        <p:spPr/>
        <p:txBody>
          <a:bodyPr/>
          <a:lstStyle/>
          <a:p>
            <a:r>
              <a:rPr lang="en-US" dirty="0"/>
              <a:t>cv2.BFMatcher(cv2.NORM HAMMING, </a:t>
            </a:r>
            <a:r>
              <a:rPr lang="en-US" dirty="0" err="1"/>
              <a:t>crossCheck</a:t>
            </a:r>
            <a:r>
              <a:rPr lang="en-US" dirty="0"/>
              <a:t>=True)</a:t>
            </a:r>
            <a:endParaRPr lang="en-IN" dirty="0"/>
          </a:p>
        </p:txBody>
      </p:sp>
      <p:sp>
        <p:nvSpPr>
          <p:cNvPr id="3" name="Content Placeholder 2">
            <a:extLst>
              <a:ext uri="{FF2B5EF4-FFF2-40B4-BE49-F238E27FC236}">
                <a16:creationId xmlns:a16="http://schemas.microsoft.com/office/drawing/2014/main" id="{B91BBAD2-DA2B-5375-6046-3262CE9396CD}"/>
              </a:ext>
            </a:extLst>
          </p:cNvPr>
          <p:cNvSpPr>
            <a:spLocks noGrp="1"/>
          </p:cNvSpPr>
          <p:nvPr>
            <p:ph idx="1"/>
          </p:nvPr>
        </p:nvSpPr>
        <p:spPr>
          <a:xfrm>
            <a:off x="1158865" y="2017466"/>
            <a:ext cx="9779182" cy="4615065"/>
          </a:xfrm>
        </p:spPr>
        <p:txBody>
          <a:bodyPr>
            <a:normAutofit/>
          </a:bodyPr>
          <a:lstStyle/>
          <a:p>
            <a:r>
              <a:rPr lang="en-US" sz="1800" dirty="0"/>
              <a:t>Working:</a:t>
            </a:r>
          </a:p>
          <a:p>
            <a:r>
              <a:rPr lang="en-US" sz="1800" dirty="0"/>
              <a:t> • For every descriptor in the first image, it finds the closest descriptor in the second image (based on Hamming distance).</a:t>
            </a:r>
          </a:p>
          <a:p>
            <a:r>
              <a:rPr lang="en-US" sz="1800" dirty="0"/>
              <a:t> • If </a:t>
            </a:r>
            <a:r>
              <a:rPr lang="en-US" sz="1800" dirty="0" err="1"/>
              <a:t>crossCheck</a:t>
            </a:r>
            <a:r>
              <a:rPr lang="en-US" sz="1800" dirty="0"/>
              <a:t>=True, only mutual best matches are retained, reducing false positives. </a:t>
            </a:r>
          </a:p>
          <a:p>
            <a:r>
              <a:rPr lang="en-US" sz="1800" dirty="0"/>
              <a:t> • The returned matches are typically sorted by distance (shorter distances imply better matches)</a:t>
            </a:r>
          </a:p>
          <a:p>
            <a:endParaRPr lang="en-US" sz="1800" dirty="0"/>
          </a:p>
          <a:p>
            <a:r>
              <a:rPr lang="en-US" sz="1800" dirty="0"/>
              <a:t>Using </a:t>
            </a:r>
            <a:r>
              <a:rPr lang="en-US" sz="1800" dirty="0" err="1"/>
              <a:t>BFMatcher</a:t>
            </a:r>
            <a:r>
              <a:rPr lang="en-US" sz="1800" dirty="0"/>
              <a:t> with </a:t>
            </a:r>
            <a:r>
              <a:rPr lang="en-US" sz="1800" dirty="0" err="1"/>
              <a:t>crossCheck</a:t>
            </a:r>
            <a:r>
              <a:rPr lang="en-US" sz="1800" dirty="0"/>
              <a:t>=True ensures that the resulting matches are highly reliable, which is essential for constructing accurate image similarity graphs and clustering scenes effectively. </a:t>
            </a:r>
          </a:p>
          <a:p>
            <a:endParaRPr lang="en-US" sz="1800" dirty="0"/>
          </a:p>
          <a:p>
            <a:r>
              <a:rPr lang="en-US" sz="1800" dirty="0"/>
              <a:t>Together, these functions form the backbone of the image correspondence pipeline by providing robust </a:t>
            </a:r>
            <a:r>
              <a:rPr lang="en-US" sz="1800" dirty="0" err="1"/>
              <a:t>keypoints</a:t>
            </a:r>
            <a:r>
              <a:rPr lang="en-US" sz="1800" dirty="0"/>
              <a:t> and reliable pairwise matches — critical for solving the two-part problem of image grouping and 3D pose estimation in the challenge. </a:t>
            </a:r>
            <a:endParaRPr lang="en-IN" dirty="0"/>
          </a:p>
        </p:txBody>
      </p:sp>
    </p:spTree>
    <p:extLst>
      <p:ext uri="{BB962C8B-B14F-4D97-AF65-F5344CB8AC3E}">
        <p14:creationId xmlns:p14="http://schemas.microsoft.com/office/powerpoint/2010/main" val="2490496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763A-DE80-915A-AA3D-DD080B1CE871}"/>
              </a:ext>
            </a:extLst>
          </p:cNvPr>
          <p:cNvSpPr>
            <a:spLocks noGrp="1"/>
          </p:cNvSpPr>
          <p:nvPr>
            <p:ph type="ctrTitle"/>
          </p:nvPr>
        </p:nvSpPr>
        <p:spPr>
          <a:xfrm>
            <a:off x="1180020" y="490703"/>
            <a:ext cx="6245912" cy="3269447"/>
          </a:xfrm>
        </p:spPr>
        <p:txBody>
          <a:bodyPr/>
          <a:lstStyle/>
          <a:p>
            <a:r>
              <a:rPr lang="en-IN" dirty="0"/>
              <a:t>RESULTS</a:t>
            </a:r>
          </a:p>
        </p:txBody>
      </p:sp>
    </p:spTree>
    <p:extLst>
      <p:ext uri="{BB962C8B-B14F-4D97-AF65-F5344CB8AC3E}">
        <p14:creationId xmlns:p14="http://schemas.microsoft.com/office/powerpoint/2010/main" val="4088938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5DEEC25-5134-94ED-4723-246140904324}"/>
              </a:ext>
            </a:extLst>
          </p:cNvPr>
          <p:cNvPicPr>
            <a:picLocks noChangeAspect="1"/>
          </p:cNvPicPr>
          <p:nvPr/>
        </p:nvPicPr>
        <p:blipFill>
          <a:blip r:embed="rId2"/>
          <a:stretch>
            <a:fillRect/>
          </a:stretch>
        </p:blipFill>
        <p:spPr>
          <a:xfrm>
            <a:off x="288098" y="1287022"/>
            <a:ext cx="11271337" cy="5570978"/>
          </a:xfrm>
          <a:prstGeom prst="rect">
            <a:avLst/>
          </a:prstGeom>
        </p:spPr>
      </p:pic>
      <p:sp>
        <p:nvSpPr>
          <p:cNvPr id="7" name="TextBox 6">
            <a:extLst>
              <a:ext uri="{FF2B5EF4-FFF2-40B4-BE49-F238E27FC236}">
                <a16:creationId xmlns:a16="http://schemas.microsoft.com/office/drawing/2014/main" id="{E34C34E5-6F3C-DCA2-F796-7838C0172641}"/>
              </a:ext>
            </a:extLst>
          </p:cNvPr>
          <p:cNvSpPr txBox="1"/>
          <p:nvPr/>
        </p:nvSpPr>
        <p:spPr>
          <a:xfrm>
            <a:off x="3765290" y="212942"/>
            <a:ext cx="4316951" cy="830997"/>
          </a:xfrm>
          <a:prstGeom prst="rect">
            <a:avLst/>
          </a:prstGeom>
          <a:noFill/>
        </p:spPr>
        <p:txBody>
          <a:bodyPr wrap="none" rtlCol="0">
            <a:spAutoFit/>
          </a:bodyPr>
          <a:lstStyle/>
          <a:p>
            <a:r>
              <a:rPr lang="en-IN" sz="4800" b="1" dirty="0">
                <a:solidFill>
                  <a:schemeClr val="bg1"/>
                </a:solidFill>
              </a:rPr>
              <a:t>INDOOR TEST 1</a:t>
            </a:r>
          </a:p>
        </p:txBody>
      </p:sp>
    </p:spTree>
    <p:extLst>
      <p:ext uri="{BB962C8B-B14F-4D97-AF65-F5344CB8AC3E}">
        <p14:creationId xmlns:p14="http://schemas.microsoft.com/office/powerpoint/2010/main" val="3953528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6269-8E3D-CD78-0EFE-5AB1D43ABD8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2EBDA7-8492-6B44-F731-FFC78358EB5E}"/>
              </a:ext>
            </a:extLst>
          </p:cNvPr>
          <p:cNvPicPr>
            <a:picLocks noChangeAspect="1"/>
          </p:cNvPicPr>
          <p:nvPr/>
        </p:nvPicPr>
        <p:blipFill>
          <a:blip r:embed="rId2"/>
          <a:stretch>
            <a:fillRect/>
          </a:stretch>
        </p:blipFill>
        <p:spPr>
          <a:xfrm>
            <a:off x="2696790" y="830997"/>
            <a:ext cx="6010311" cy="5974915"/>
          </a:xfrm>
          <a:prstGeom prst="rect">
            <a:avLst/>
          </a:prstGeom>
        </p:spPr>
      </p:pic>
      <p:sp>
        <p:nvSpPr>
          <p:cNvPr id="4" name="TextBox 3">
            <a:extLst>
              <a:ext uri="{FF2B5EF4-FFF2-40B4-BE49-F238E27FC236}">
                <a16:creationId xmlns:a16="http://schemas.microsoft.com/office/drawing/2014/main" id="{BF3005E3-C069-B4E9-3C32-9F97DDE6E553}"/>
              </a:ext>
            </a:extLst>
          </p:cNvPr>
          <p:cNvSpPr txBox="1"/>
          <p:nvPr/>
        </p:nvSpPr>
        <p:spPr>
          <a:xfrm>
            <a:off x="2422127" y="0"/>
            <a:ext cx="6914970" cy="830997"/>
          </a:xfrm>
          <a:prstGeom prst="rect">
            <a:avLst/>
          </a:prstGeom>
          <a:noFill/>
        </p:spPr>
        <p:txBody>
          <a:bodyPr wrap="none" rtlCol="0">
            <a:spAutoFit/>
          </a:bodyPr>
          <a:lstStyle/>
          <a:p>
            <a:r>
              <a:rPr lang="en-IN" sz="4800" b="1" dirty="0">
                <a:solidFill>
                  <a:schemeClr val="bg1"/>
                </a:solidFill>
              </a:rPr>
              <a:t>ARTIFICIAL LIGHT TEST 2</a:t>
            </a:r>
          </a:p>
        </p:txBody>
      </p:sp>
    </p:spTree>
    <p:extLst>
      <p:ext uri="{BB962C8B-B14F-4D97-AF65-F5344CB8AC3E}">
        <p14:creationId xmlns:p14="http://schemas.microsoft.com/office/powerpoint/2010/main" val="4000994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8A269-33B1-631F-3D56-7CF42E69AB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91B76E-3610-A9A2-0ABA-4BD1D885F1FA}"/>
              </a:ext>
            </a:extLst>
          </p:cNvPr>
          <p:cNvPicPr>
            <a:picLocks noChangeAspect="1"/>
          </p:cNvPicPr>
          <p:nvPr/>
        </p:nvPicPr>
        <p:blipFill>
          <a:blip r:embed="rId2"/>
          <a:stretch>
            <a:fillRect/>
          </a:stretch>
        </p:blipFill>
        <p:spPr>
          <a:xfrm>
            <a:off x="2611945" y="797378"/>
            <a:ext cx="6150485" cy="5966677"/>
          </a:xfrm>
          <a:prstGeom prst="rect">
            <a:avLst/>
          </a:prstGeom>
        </p:spPr>
      </p:pic>
      <p:sp>
        <p:nvSpPr>
          <p:cNvPr id="4" name="TextBox 3">
            <a:extLst>
              <a:ext uri="{FF2B5EF4-FFF2-40B4-BE49-F238E27FC236}">
                <a16:creationId xmlns:a16="http://schemas.microsoft.com/office/drawing/2014/main" id="{3B0573CE-B0CF-1423-58B6-27BFE7FD74DC}"/>
              </a:ext>
            </a:extLst>
          </p:cNvPr>
          <p:cNvSpPr txBox="1"/>
          <p:nvPr/>
        </p:nvSpPr>
        <p:spPr>
          <a:xfrm>
            <a:off x="2436585" y="-33619"/>
            <a:ext cx="6501203" cy="830997"/>
          </a:xfrm>
          <a:prstGeom prst="rect">
            <a:avLst/>
          </a:prstGeom>
          <a:noFill/>
        </p:spPr>
        <p:txBody>
          <a:bodyPr wrap="none" rtlCol="0">
            <a:spAutoFit/>
          </a:bodyPr>
          <a:lstStyle/>
          <a:p>
            <a:r>
              <a:rPr lang="en-IN" sz="4800" b="1" dirty="0">
                <a:solidFill>
                  <a:schemeClr val="bg1"/>
                </a:solidFill>
              </a:rPr>
              <a:t>NATURAL LIGHT TEST 3</a:t>
            </a:r>
          </a:p>
        </p:txBody>
      </p:sp>
    </p:spTree>
    <p:extLst>
      <p:ext uri="{BB962C8B-B14F-4D97-AF65-F5344CB8AC3E}">
        <p14:creationId xmlns:p14="http://schemas.microsoft.com/office/powerpoint/2010/main" val="293419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58DF-E783-2E84-9B64-62418CFAD3F0}"/>
              </a:ext>
            </a:extLst>
          </p:cNvPr>
          <p:cNvSpPr>
            <a:spLocks noGrp="1"/>
          </p:cNvSpPr>
          <p:nvPr>
            <p:ph type="ctrTitle"/>
          </p:nvPr>
        </p:nvSpPr>
        <p:spPr/>
        <p:txBody>
          <a:bodyPr/>
          <a:lstStyle/>
          <a:p>
            <a:r>
              <a:rPr lang="en-IN" dirty="0"/>
              <a:t>CODE SNIPPETS</a:t>
            </a:r>
          </a:p>
        </p:txBody>
      </p:sp>
    </p:spTree>
    <p:extLst>
      <p:ext uri="{BB962C8B-B14F-4D97-AF65-F5344CB8AC3E}">
        <p14:creationId xmlns:p14="http://schemas.microsoft.com/office/powerpoint/2010/main" val="1115526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A1813-5873-979F-4C25-B930814A38C1}"/>
              </a:ext>
            </a:extLst>
          </p:cNvPr>
          <p:cNvSpPr>
            <a:spLocks noGrp="1"/>
          </p:cNvSpPr>
          <p:nvPr>
            <p:ph type="title"/>
          </p:nvPr>
        </p:nvSpPr>
        <p:spPr>
          <a:xfrm>
            <a:off x="5483501" y="98980"/>
            <a:ext cx="5943599" cy="1333894"/>
          </a:xfrm>
        </p:spPr>
        <p:txBody>
          <a:bodyPr/>
          <a:lstStyle/>
          <a:p>
            <a:r>
              <a:rPr lang="en-IN" dirty="0"/>
              <a:t>Library Imports &amp; </a:t>
            </a:r>
            <a:br>
              <a:rPr lang="en-IN" dirty="0"/>
            </a:br>
            <a:r>
              <a:rPr lang="en-IN" dirty="0"/>
              <a:t>          Directory Setup</a:t>
            </a:r>
          </a:p>
        </p:txBody>
      </p:sp>
      <p:pic>
        <p:nvPicPr>
          <p:cNvPr id="7" name="Content Placeholder 6">
            <a:extLst>
              <a:ext uri="{FF2B5EF4-FFF2-40B4-BE49-F238E27FC236}">
                <a16:creationId xmlns:a16="http://schemas.microsoft.com/office/drawing/2014/main" id="{AC16743E-C02A-F313-2AFE-1AD821BF6D90}"/>
              </a:ext>
            </a:extLst>
          </p:cNvPr>
          <p:cNvPicPr>
            <a:picLocks noGrp="1" noChangeAspect="1"/>
          </p:cNvPicPr>
          <p:nvPr>
            <p:ph idx="17"/>
          </p:nvPr>
        </p:nvPicPr>
        <p:blipFill>
          <a:blip r:embed="rId2"/>
          <a:stretch>
            <a:fillRect/>
          </a:stretch>
        </p:blipFill>
        <p:spPr>
          <a:xfrm>
            <a:off x="267565" y="999243"/>
            <a:ext cx="4353844" cy="3534741"/>
          </a:xfrm>
          <a:prstGeom prst="rect">
            <a:avLst/>
          </a:prstGeom>
        </p:spPr>
      </p:pic>
      <p:sp>
        <p:nvSpPr>
          <p:cNvPr id="6" name="Rectangle 2">
            <a:extLst>
              <a:ext uri="{FF2B5EF4-FFF2-40B4-BE49-F238E27FC236}">
                <a16:creationId xmlns:a16="http://schemas.microsoft.com/office/drawing/2014/main" id="{2D94BE19-6293-E173-CF5E-F35104000D5C}"/>
              </a:ext>
            </a:extLst>
          </p:cNvPr>
          <p:cNvSpPr>
            <a:spLocks noGrp="1" noChangeArrowheads="1"/>
          </p:cNvSpPr>
          <p:nvPr>
            <p:ph idx="15"/>
          </p:nvPr>
        </p:nvSpPr>
        <p:spPr bwMode="auto">
          <a:xfrm>
            <a:off x="4745299" y="1222928"/>
            <a:ext cx="7446701"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800" b="1" dirty="0"/>
              <a:t>Purpose:</a:t>
            </a:r>
            <a:br>
              <a:rPr lang="en-US" sz="1800" dirty="0"/>
            </a:br>
            <a:r>
              <a:rPr lang="en-US" sz="1800" dirty="0"/>
              <a:t>Set up the environment by importing required libraries and defining dataset paths for processing and analysis.</a:t>
            </a:r>
            <a:br>
              <a:rPr lang="en-US" sz="1800" dirty="0"/>
            </a:br>
            <a:br>
              <a:rPr kumimoji="0" lang="en-US" altLang="en-US" sz="1800" b="1"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pandas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numpy</a:t>
            </a:r>
            <a:r>
              <a:rPr kumimoji="0" lang="en-US" altLang="en-US" sz="1800" b="0" i="0" u="none" strike="noStrike" cap="none" normalizeH="0" baseline="0" dirty="0">
                <a:ln>
                  <a:noFill/>
                </a:ln>
                <a:solidFill>
                  <a:schemeClr val="tx1"/>
                </a:solidFill>
                <a:effectLst/>
              </a:rPr>
              <a:t>: Data manipulation and numerical computation.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matplotlib.pyplot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matplotlib.image</a:t>
            </a:r>
            <a:r>
              <a:rPr kumimoji="0" lang="en-US" altLang="en-US" sz="1800" b="0" i="0" u="none" strike="noStrike" cap="none" normalizeH="0" baseline="0" dirty="0">
                <a:ln>
                  <a:noFill/>
                </a:ln>
                <a:solidFill>
                  <a:schemeClr val="tx1"/>
                </a:solidFill>
                <a:effectLst/>
              </a:rPr>
              <a:t>: Visualization and image plotting.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cv2</a:t>
            </a:r>
            <a:r>
              <a:rPr kumimoji="0" lang="en-US" altLang="en-US" sz="1800" b="0" i="0" u="none" strike="noStrike" cap="none" normalizeH="0" baseline="0" dirty="0">
                <a:ln>
                  <a:noFill/>
                </a:ln>
                <a:solidFill>
                  <a:schemeClr val="tx1"/>
                </a:solidFill>
                <a:effectLst/>
              </a:rPr>
              <a:t>: OpenCV library for image processing (ORB feature extraction, matching).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glob</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os</a:t>
            </a:r>
            <a:r>
              <a:rPr kumimoji="0" lang="en-US" altLang="en-US" sz="1800" b="0" i="0" u="none" strike="noStrike" cap="none" normalizeH="0" baseline="0" dirty="0">
                <a:ln>
                  <a:noFill/>
                </a:ln>
                <a:solidFill>
                  <a:schemeClr val="tx1"/>
                </a:solidFill>
                <a:effectLst/>
              </a:rPr>
              <a:t>: File system navigation and path handling.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sklearn.cluster.DBSCAN</a:t>
            </a:r>
            <a:r>
              <a:rPr kumimoji="0" lang="en-US" altLang="en-US" sz="1800" b="0" i="0" u="none" strike="noStrike" cap="none" normalizeH="0" baseline="0" dirty="0">
                <a:ln>
                  <a:noFill/>
                </a:ln>
                <a:solidFill>
                  <a:schemeClr val="tx1"/>
                </a:solidFill>
                <a:effectLst/>
              </a:rPr>
              <a:t>: Clustering algorithm for grouping matched features.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sklearn.preprocessing.StandardScaler</a:t>
            </a:r>
            <a:r>
              <a:rPr kumimoji="0" lang="en-US" altLang="en-US" sz="1800" b="0" i="0" u="none" strike="noStrike" cap="none" normalizeH="0" baseline="0" dirty="0">
                <a:ln>
                  <a:noFill/>
                </a:ln>
                <a:solidFill>
                  <a:schemeClr val="tx1"/>
                </a:solidFill>
                <a:effectLst/>
              </a:rPr>
              <a:t>: Feature normalization before clustering.</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Dataset Paths Defined: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ETS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stairs</a:t>
            </a:r>
            <a:r>
              <a:rPr kumimoji="0" lang="en-US" altLang="en-US" sz="1800" b="0" i="0" u="none" strike="noStrike" cap="none" normalizeH="0" baseline="0" dirty="0">
                <a:ln>
                  <a:noFill/>
                </a:ln>
                <a:solidFill>
                  <a:schemeClr val="tx1"/>
                </a:solidFill>
                <a:effectLst/>
                <a:latin typeface="Arial" panose="020B0604020202020204" pitchFamily="34" charset="0"/>
              </a:rPr>
              <a:t> image datasets are split into training and test 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Four variables store directory paths: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test_directory_ETS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train_directory_ETS</a:t>
            </a:r>
            <a:endParaRPr kumimoji="0" lang="en-US" altLang="en-US" sz="18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test_directory_stairs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train_directory_stairs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2465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EF1BA-24AE-D507-E0D0-8C32E81DA749}"/>
              </a:ext>
            </a:extLst>
          </p:cNvPr>
          <p:cNvSpPr>
            <a:spLocks noGrp="1"/>
          </p:cNvSpPr>
          <p:nvPr>
            <p:ph type="title"/>
          </p:nvPr>
        </p:nvSpPr>
        <p:spPr>
          <a:xfrm>
            <a:off x="5428212" y="339363"/>
            <a:ext cx="5943599" cy="1387625"/>
          </a:xfrm>
        </p:spPr>
        <p:txBody>
          <a:bodyPr/>
          <a:lstStyle/>
          <a:p>
            <a:r>
              <a:rPr lang="en-IN" dirty="0"/>
              <a:t>Dataset Image </a:t>
            </a:r>
            <a:br>
              <a:rPr lang="en-IN" dirty="0"/>
            </a:br>
            <a:r>
              <a:rPr lang="en-IN" dirty="0"/>
              <a:t>          Count Logging</a:t>
            </a:r>
          </a:p>
        </p:txBody>
      </p:sp>
      <p:pic>
        <p:nvPicPr>
          <p:cNvPr id="6" name="Content Placeholder 5">
            <a:extLst>
              <a:ext uri="{FF2B5EF4-FFF2-40B4-BE49-F238E27FC236}">
                <a16:creationId xmlns:a16="http://schemas.microsoft.com/office/drawing/2014/main" id="{EE60F00F-2128-4AE9-5C94-3F08FBA6AC26}"/>
              </a:ext>
            </a:extLst>
          </p:cNvPr>
          <p:cNvPicPr>
            <a:picLocks noGrp="1" noChangeAspect="1"/>
          </p:cNvPicPr>
          <p:nvPr>
            <p:ph idx="17"/>
          </p:nvPr>
        </p:nvPicPr>
        <p:blipFill>
          <a:blip r:embed="rId2"/>
          <a:stretch>
            <a:fillRect/>
          </a:stretch>
        </p:blipFill>
        <p:spPr>
          <a:xfrm>
            <a:off x="97197" y="2075906"/>
            <a:ext cx="4712508" cy="1957077"/>
          </a:xfrm>
          <a:prstGeom prst="rect">
            <a:avLst/>
          </a:prstGeom>
        </p:spPr>
      </p:pic>
      <p:sp>
        <p:nvSpPr>
          <p:cNvPr id="5" name="Rectangle 1">
            <a:extLst>
              <a:ext uri="{FF2B5EF4-FFF2-40B4-BE49-F238E27FC236}">
                <a16:creationId xmlns:a16="http://schemas.microsoft.com/office/drawing/2014/main" id="{5344E508-6A12-8220-5AF8-45E17126AB46}"/>
              </a:ext>
            </a:extLst>
          </p:cNvPr>
          <p:cNvSpPr>
            <a:spLocks noGrp="1" noChangeArrowheads="1"/>
          </p:cNvSpPr>
          <p:nvPr>
            <p:ph idx="15"/>
          </p:nvPr>
        </p:nvSpPr>
        <p:spPr bwMode="auto">
          <a:xfrm>
            <a:off x="4828559" y="1892709"/>
            <a:ext cx="734144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Verify the number of images available in each dataset directory for both classes (ETS, stairs) and splits (train, test).</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os.listdir</a:t>
            </a:r>
            <a:r>
              <a:rPr kumimoji="0" lang="en-US" altLang="en-US" sz="1800" b="0" i="0" u="none" strike="noStrike" cap="none" normalizeH="0" baseline="0" dirty="0">
                <a:ln>
                  <a:noFill/>
                </a:ln>
                <a:solidFill>
                  <a:schemeClr val="tx1"/>
                </a:solidFill>
                <a:effectLst/>
                <a:latin typeface="Arial Unicode MS"/>
              </a:rPr>
              <a:t>(path)</a:t>
            </a:r>
            <a:r>
              <a:rPr kumimoji="0" lang="en-US" altLang="en-US" sz="1800" b="0" i="0" u="none" strike="noStrike" cap="none" normalizeH="0" baseline="0" dirty="0">
                <a:ln>
                  <a:noFill/>
                </a:ln>
                <a:solidFill>
                  <a:schemeClr val="tx1"/>
                </a:solidFill>
                <a:effectLst/>
              </a:rPr>
              <a:t>: Lists all image files in the specified directory.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len</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Calculates the total number of images in each folder.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print(...)</a:t>
            </a:r>
            <a:r>
              <a:rPr kumimoji="0" lang="en-US" altLang="en-US" sz="1800" b="0" i="0" u="none" strike="noStrike" cap="none" normalizeH="0" baseline="0" dirty="0">
                <a:ln>
                  <a:noFill/>
                </a:ln>
                <a:solidFill>
                  <a:schemeClr val="tx1"/>
                </a:solidFill>
                <a:effectLst/>
              </a:rPr>
              <a:t>: Outputs counts to ensure data availability and balance.</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confirm dataset integrity before proceeding to feature extraction or training steps.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0749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0563C-62BF-EA89-7435-F3B6A5723331}"/>
              </a:ext>
            </a:extLst>
          </p:cNvPr>
          <p:cNvSpPr>
            <a:spLocks noGrp="1"/>
          </p:cNvSpPr>
          <p:nvPr>
            <p:ph type="title"/>
          </p:nvPr>
        </p:nvSpPr>
        <p:spPr>
          <a:xfrm>
            <a:off x="2262633" y="62115"/>
            <a:ext cx="9702799" cy="675166"/>
          </a:xfrm>
        </p:spPr>
        <p:txBody>
          <a:bodyPr/>
          <a:lstStyle/>
          <a:p>
            <a:r>
              <a:rPr lang="en-US" dirty="0"/>
              <a:t>Image Loading &amp; ORB Feature Extraction</a:t>
            </a:r>
            <a:endParaRPr lang="en-IN" dirty="0"/>
          </a:p>
        </p:txBody>
      </p:sp>
      <p:sp>
        <p:nvSpPr>
          <p:cNvPr id="5" name="Rectangle 1">
            <a:extLst>
              <a:ext uri="{FF2B5EF4-FFF2-40B4-BE49-F238E27FC236}">
                <a16:creationId xmlns:a16="http://schemas.microsoft.com/office/drawing/2014/main" id="{C05AF9AE-9E9B-4B69-0AD9-44A27395C63D}"/>
              </a:ext>
            </a:extLst>
          </p:cNvPr>
          <p:cNvSpPr>
            <a:spLocks noGrp="1" noChangeArrowheads="1"/>
          </p:cNvSpPr>
          <p:nvPr>
            <p:ph idx="15"/>
          </p:nvPr>
        </p:nvSpPr>
        <p:spPr bwMode="auto">
          <a:xfrm>
            <a:off x="4513073" y="737281"/>
            <a:ext cx="7780527"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Load sample images and extract ORB features to prepare for feature-based matching and analysis.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Image Visualization: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mpimg.imread</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Loads image using </a:t>
            </a:r>
            <a:r>
              <a:rPr kumimoji="0" lang="en-US" altLang="en-US" sz="1800" b="0" i="0" u="none" strike="noStrike" cap="none" normalizeH="0" baseline="0" dirty="0">
                <a:ln>
                  <a:noFill/>
                </a:ln>
                <a:solidFill>
                  <a:schemeClr val="tx1"/>
                </a:solidFill>
                <a:effectLst/>
                <a:latin typeface="Arial Unicode MS"/>
              </a:rPr>
              <a:t>matplotlib</a:t>
            </a:r>
            <a:r>
              <a:rPr kumimoji="0" lang="en-US" altLang="en-US" sz="1800" b="0" i="0" u="none" strike="noStrike" cap="none" normalizeH="0" baseline="0" dirty="0">
                <a:ln>
                  <a:noFill/>
                </a:ln>
                <a:solidFill>
                  <a:schemeClr val="tx1"/>
                </a:solidFill>
                <a:effectLst/>
              </a:rPr>
              <a:t> for visualization.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plt.imshow</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Displays the loaded image for visual verification.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for ETS and Stairs training examples.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Image Loading for Processing: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cv2.imread(path, cv2.IMREAD_COLOR)</a:t>
            </a:r>
            <a:r>
              <a:rPr kumimoji="0" lang="en-US" altLang="en-US" sz="1800" b="0" i="0" u="none" strike="noStrike" cap="none" normalizeH="0" baseline="0" dirty="0">
                <a:ln>
                  <a:noFill/>
                </a:ln>
                <a:solidFill>
                  <a:schemeClr val="tx1"/>
                </a:solidFill>
                <a:effectLst/>
              </a:rPr>
              <a:t>: Loads images in color for further processing using OpenCV.</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ORB Feature Extraction: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cv2.ORB_create(</a:t>
            </a:r>
            <a:r>
              <a:rPr kumimoji="0" lang="en-US" altLang="en-US" sz="1800" b="0" i="0" u="none" strike="noStrike" cap="none" normalizeH="0" baseline="0" dirty="0" err="1">
                <a:ln>
                  <a:noFill/>
                </a:ln>
                <a:solidFill>
                  <a:schemeClr val="tx1"/>
                </a:solidFill>
                <a:effectLst/>
                <a:latin typeface="Arial Unicode MS"/>
              </a:rPr>
              <a:t>nfeatures</a:t>
            </a:r>
            <a:r>
              <a:rPr kumimoji="0" lang="en-US" altLang="en-US" sz="1800" b="0" i="0" u="none" strike="noStrike" cap="none" normalizeH="0" baseline="0" dirty="0">
                <a:ln>
                  <a:noFill/>
                </a:ln>
                <a:solidFill>
                  <a:schemeClr val="tx1"/>
                </a:solidFill>
                <a:effectLst/>
                <a:latin typeface="Arial Unicode MS"/>
              </a:rPr>
              <a:t>=1000)</a:t>
            </a:r>
            <a:r>
              <a:rPr kumimoji="0" lang="en-US" altLang="en-US" sz="1800" b="0" i="0" u="none" strike="noStrike" cap="none" normalizeH="0" baseline="0" dirty="0">
                <a:ln>
                  <a:noFill/>
                </a:ln>
                <a:solidFill>
                  <a:schemeClr val="tx1"/>
                </a:solidFill>
                <a:effectLst/>
              </a:rPr>
              <a:t>: Initializes ORB detector with up to 1000 </a:t>
            </a:r>
            <a:r>
              <a:rPr kumimoji="0" lang="en-US" altLang="en-US" sz="1800" b="0" i="0" u="none" strike="noStrike" cap="none" normalizeH="0" baseline="0" dirty="0" err="1">
                <a:ln>
                  <a:noFill/>
                </a:ln>
                <a:solidFill>
                  <a:schemeClr val="tx1"/>
                </a:solidFill>
                <a:effectLst/>
              </a:rPr>
              <a:t>keypoints</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orb.detectAndCompute</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Detects </a:t>
            </a:r>
            <a:r>
              <a:rPr kumimoji="0" lang="en-US" altLang="en-US" sz="1800" b="0" i="0" u="none" strike="noStrike" cap="none" normalizeH="0" baseline="0" dirty="0" err="1">
                <a:ln>
                  <a:noFill/>
                </a:ln>
                <a:solidFill>
                  <a:schemeClr val="tx1"/>
                </a:solidFill>
                <a:effectLst/>
              </a:rPr>
              <a:t>keypoints</a:t>
            </a:r>
            <a:r>
              <a:rPr kumimoji="0" lang="en-US" altLang="en-US" sz="1800" b="0" i="0" u="none" strike="noStrike" cap="none" normalizeH="0" baseline="0" dirty="0">
                <a:ln>
                  <a:noFill/>
                </a:ln>
                <a:solidFill>
                  <a:schemeClr val="tx1"/>
                </a:solidFill>
                <a:effectLst/>
              </a:rPr>
              <a:t> and computes binary descriptors.</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err="1">
                <a:ln>
                  <a:noFill/>
                </a:ln>
                <a:solidFill>
                  <a:schemeClr val="tx1"/>
                </a:solidFill>
                <a:effectLst/>
                <a:latin typeface="Arial" panose="020B0604020202020204" pitchFamily="34" charset="0"/>
              </a:rPr>
              <a:t>Keypoints</a:t>
            </a:r>
            <a:r>
              <a:rPr kumimoji="0" lang="en-US" altLang="en-US" sz="1800" b="0" i="0" u="none" strike="noStrike" cap="none" normalizeH="0" baseline="0" dirty="0">
                <a:ln>
                  <a:noFill/>
                </a:ln>
                <a:solidFill>
                  <a:schemeClr val="tx1"/>
                </a:solidFill>
                <a:effectLst/>
                <a:latin typeface="Arial" panose="020B0604020202020204" pitchFamily="34" charset="0"/>
              </a:rPr>
              <a:t> and descriptors essential for image matching and similarity evaluation.</a:t>
            </a:r>
          </a:p>
        </p:txBody>
      </p:sp>
      <p:grpSp>
        <p:nvGrpSpPr>
          <p:cNvPr id="17" name="Group 16">
            <a:extLst>
              <a:ext uri="{FF2B5EF4-FFF2-40B4-BE49-F238E27FC236}">
                <a16:creationId xmlns:a16="http://schemas.microsoft.com/office/drawing/2014/main" id="{5AB02FFD-C16F-893F-E699-2554FD2CB2A3}"/>
              </a:ext>
            </a:extLst>
          </p:cNvPr>
          <p:cNvGrpSpPr/>
          <p:nvPr/>
        </p:nvGrpSpPr>
        <p:grpSpPr>
          <a:xfrm>
            <a:off x="119257" y="1768047"/>
            <a:ext cx="4368031" cy="2355470"/>
            <a:chOff x="119257" y="1768047"/>
            <a:chExt cx="4368031" cy="2355470"/>
          </a:xfrm>
        </p:grpSpPr>
        <p:pic>
          <p:nvPicPr>
            <p:cNvPr id="15" name="Picture 14">
              <a:extLst>
                <a:ext uri="{FF2B5EF4-FFF2-40B4-BE49-F238E27FC236}">
                  <a16:creationId xmlns:a16="http://schemas.microsoft.com/office/drawing/2014/main" id="{FC51E2F2-B4A0-A479-C2FD-EDE29EE0DFDF}"/>
                </a:ext>
              </a:extLst>
            </p:cNvPr>
            <p:cNvPicPr>
              <a:picLocks noChangeAspect="1"/>
            </p:cNvPicPr>
            <p:nvPr/>
          </p:nvPicPr>
          <p:blipFill>
            <a:blip r:embed="rId2"/>
            <a:srcRect t="5042"/>
            <a:stretch/>
          </p:blipFill>
          <p:spPr>
            <a:xfrm>
              <a:off x="119257" y="3101517"/>
              <a:ext cx="4368030" cy="1022000"/>
            </a:xfrm>
            <a:prstGeom prst="rect">
              <a:avLst/>
            </a:prstGeom>
          </p:spPr>
        </p:pic>
        <p:pic>
          <p:nvPicPr>
            <p:cNvPr id="9" name="Picture 8">
              <a:extLst>
                <a:ext uri="{FF2B5EF4-FFF2-40B4-BE49-F238E27FC236}">
                  <a16:creationId xmlns:a16="http://schemas.microsoft.com/office/drawing/2014/main" id="{4FAC25A2-CA0B-69D9-1D6E-CF6AB546926B}"/>
                </a:ext>
              </a:extLst>
            </p:cNvPr>
            <p:cNvPicPr>
              <a:picLocks noChangeAspect="1"/>
            </p:cNvPicPr>
            <p:nvPr/>
          </p:nvPicPr>
          <p:blipFill>
            <a:blip r:embed="rId3"/>
            <a:stretch>
              <a:fillRect/>
            </a:stretch>
          </p:blipFill>
          <p:spPr>
            <a:xfrm>
              <a:off x="119257" y="1768047"/>
              <a:ext cx="4368030" cy="675166"/>
            </a:xfrm>
            <a:prstGeom prst="rect">
              <a:avLst/>
            </a:prstGeom>
          </p:spPr>
        </p:pic>
        <p:pic>
          <p:nvPicPr>
            <p:cNvPr id="13" name="Picture 12">
              <a:extLst>
                <a:ext uri="{FF2B5EF4-FFF2-40B4-BE49-F238E27FC236}">
                  <a16:creationId xmlns:a16="http://schemas.microsoft.com/office/drawing/2014/main" id="{2B9A7945-949C-7977-D255-2029945D9B7E}"/>
                </a:ext>
              </a:extLst>
            </p:cNvPr>
            <p:cNvPicPr>
              <a:picLocks noChangeAspect="1"/>
            </p:cNvPicPr>
            <p:nvPr/>
          </p:nvPicPr>
          <p:blipFill>
            <a:blip r:embed="rId4"/>
            <a:stretch>
              <a:fillRect/>
            </a:stretch>
          </p:blipFill>
          <p:spPr>
            <a:xfrm>
              <a:off x="119258" y="2438133"/>
              <a:ext cx="4368030" cy="704024"/>
            </a:xfrm>
            <a:prstGeom prst="rect">
              <a:avLst/>
            </a:prstGeom>
          </p:spPr>
        </p:pic>
      </p:grpSp>
    </p:spTree>
    <p:extLst>
      <p:ext uri="{BB962C8B-B14F-4D97-AF65-F5344CB8AC3E}">
        <p14:creationId xmlns:p14="http://schemas.microsoft.com/office/powerpoint/2010/main" val="1097120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47CC-16CB-8B53-F0F9-F5F085CE1052}"/>
              </a:ext>
            </a:extLst>
          </p:cNvPr>
          <p:cNvSpPr>
            <a:spLocks noGrp="1"/>
          </p:cNvSpPr>
          <p:nvPr>
            <p:ph type="title"/>
          </p:nvPr>
        </p:nvSpPr>
        <p:spPr>
          <a:xfrm>
            <a:off x="3974838" y="172720"/>
            <a:ext cx="7467452" cy="1300479"/>
          </a:xfrm>
        </p:spPr>
        <p:txBody>
          <a:bodyPr/>
          <a:lstStyle/>
          <a:p>
            <a:r>
              <a:rPr lang="en-IN" dirty="0"/>
              <a:t>ORB Feature Matching &amp;</a:t>
            </a:r>
            <a:br>
              <a:rPr lang="en-IN" dirty="0"/>
            </a:br>
            <a:r>
              <a:rPr lang="en-IN" dirty="0"/>
              <a:t>                        Visualization</a:t>
            </a:r>
          </a:p>
        </p:txBody>
      </p:sp>
      <p:pic>
        <p:nvPicPr>
          <p:cNvPr id="6" name="Content Placeholder 5">
            <a:extLst>
              <a:ext uri="{FF2B5EF4-FFF2-40B4-BE49-F238E27FC236}">
                <a16:creationId xmlns:a16="http://schemas.microsoft.com/office/drawing/2014/main" id="{F44542BF-9BF1-E2A3-25DB-E9FC60C79460}"/>
              </a:ext>
            </a:extLst>
          </p:cNvPr>
          <p:cNvPicPr>
            <a:picLocks noGrp="1" noChangeAspect="1"/>
          </p:cNvPicPr>
          <p:nvPr>
            <p:ph idx="17"/>
          </p:nvPr>
        </p:nvPicPr>
        <p:blipFill>
          <a:blip r:embed="rId2"/>
          <a:stretch>
            <a:fillRect/>
          </a:stretch>
        </p:blipFill>
        <p:spPr>
          <a:xfrm>
            <a:off x="50799" y="1931466"/>
            <a:ext cx="4826149" cy="1789004"/>
          </a:xfrm>
          <a:prstGeom prst="rect">
            <a:avLst/>
          </a:prstGeom>
        </p:spPr>
      </p:pic>
      <p:sp>
        <p:nvSpPr>
          <p:cNvPr id="5" name="Rectangle 1">
            <a:extLst>
              <a:ext uri="{FF2B5EF4-FFF2-40B4-BE49-F238E27FC236}">
                <a16:creationId xmlns:a16="http://schemas.microsoft.com/office/drawing/2014/main" id="{CFD7F79C-7C57-87AE-B373-CCFF82280010}"/>
              </a:ext>
            </a:extLst>
          </p:cNvPr>
          <p:cNvSpPr>
            <a:spLocks noGrp="1" noChangeArrowheads="1"/>
          </p:cNvSpPr>
          <p:nvPr>
            <p:ph idx="15"/>
          </p:nvPr>
        </p:nvSpPr>
        <p:spPr bwMode="auto">
          <a:xfrm>
            <a:off x="4876948" y="1473199"/>
            <a:ext cx="746745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Match ORB descriptors between images and visualize the most relevant matches.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Matching (</a:t>
            </a:r>
            <a:r>
              <a:rPr kumimoji="0" lang="en-US" altLang="en-US" sz="1800" b="1" i="0" u="none" strike="noStrike" cap="none" normalizeH="0" baseline="0" dirty="0" err="1">
                <a:ln>
                  <a:noFill/>
                </a:ln>
                <a:solidFill>
                  <a:schemeClr val="tx1"/>
                </a:solidFill>
                <a:effectLst/>
                <a:latin typeface="Arial Unicode MS"/>
              </a:rPr>
              <a:t>match_orb_features</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a:t>
            </a:r>
            <a:r>
              <a:rPr kumimoji="0" lang="en-US" altLang="en-US" sz="1800" b="0" i="0" u="none" strike="noStrike" cap="none" normalizeH="0" baseline="0" dirty="0">
                <a:ln>
                  <a:noFill/>
                </a:ln>
                <a:solidFill>
                  <a:schemeClr val="tx1"/>
                </a:solidFill>
                <a:effectLst/>
                <a:latin typeface="Arial Unicode MS"/>
              </a:rPr>
              <a:t>cv2.BFMatcher</a:t>
            </a:r>
            <a:r>
              <a:rPr kumimoji="0" lang="en-US" altLang="en-US" sz="1800" b="0" i="0" u="none" strike="noStrike" cap="none" normalizeH="0" baseline="0" dirty="0">
                <a:ln>
                  <a:noFill/>
                </a:ln>
                <a:solidFill>
                  <a:schemeClr val="tx1"/>
                </a:solidFill>
                <a:effectLst/>
              </a:rPr>
              <a:t> with </a:t>
            </a:r>
            <a:r>
              <a:rPr kumimoji="0" lang="en-US" altLang="en-US" sz="1800" b="0" i="0" u="none" strike="noStrike" cap="none" normalizeH="0" baseline="0" dirty="0">
                <a:ln>
                  <a:noFill/>
                </a:ln>
                <a:solidFill>
                  <a:schemeClr val="tx1"/>
                </a:solidFill>
                <a:effectLst/>
                <a:latin typeface="Arial Unicode MS"/>
              </a:rPr>
              <a:t>cv2.NORM_HAMMING</a:t>
            </a:r>
            <a:r>
              <a:rPr kumimoji="0" lang="en-US" altLang="en-US" sz="1800" b="0" i="0" u="none" strike="noStrike" cap="none" normalizeH="0" baseline="0" dirty="0">
                <a:ln>
                  <a:noFill/>
                </a:ln>
                <a:solidFill>
                  <a:schemeClr val="tx1"/>
                </a:solidFill>
                <a:effectLst/>
              </a:rPr>
              <a:t> for binary descriptor matching.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crossCheck</a:t>
            </a:r>
            <a:r>
              <a:rPr kumimoji="0" lang="en-US" altLang="en-US" sz="1800" b="0" i="0" u="none" strike="noStrike" cap="none" normalizeH="0" baseline="0" dirty="0">
                <a:ln>
                  <a:noFill/>
                </a:ln>
                <a:solidFill>
                  <a:schemeClr val="tx1"/>
                </a:solidFill>
                <a:effectLst/>
                <a:latin typeface="Arial Unicode MS"/>
              </a:rPr>
              <a:t>=True</a:t>
            </a:r>
            <a:r>
              <a:rPr kumimoji="0" lang="en-US" altLang="en-US" sz="1800" b="0" i="0" u="none" strike="noStrike" cap="none" normalizeH="0" baseline="0" dirty="0">
                <a:ln>
                  <a:noFill/>
                </a:ln>
                <a:solidFill>
                  <a:schemeClr val="tx1"/>
                </a:solidFill>
                <a:effectLst/>
              </a:rPr>
              <a:t>: Ensures mutual best matches, increasing accuracy.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Matches are sorted by distance (match quality).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Match Visualization (</a:t>
            </a:r>
            <a:r>
              <a:rPr kumimoji="0" lang="en-US" altLang="en-US" sz="1800" b="1" i="0" u="none" strike="noStrike" cap="none" normalizeH="0" baseline="0" dirty="0" err="1">
                <a:ln>
                  <a:noFill/>
                </a:ln>
                <a:solidFill>
                  <a:schemeClr val="tx1"/>
                </a:solidFill>
                <a:effectLst/>
                <a:latin typeface="Arial Unicode MS"/>
              </a:rPr>
              <a:t>visualize_matches</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cv2.drawMatches(...)</a:t>
            </a:r>
            <a:r>
              <a:rPr kumimoji="0" lang="en-US" altLang="en-US" sz="1800" b="0" i="0" u="none" strike="noStrike" cap="none" normalizeH="0" baseline="0" dirty="0">
                <a:ln>
                  <a:noFill/>
                </a:ln>
                <a:solidFill>
                  <a:schemeClr val="tx1"/>
                </a:solidFill>
                <a:effectLst/>
              </a:rPr>
              <a:t>: Draws lines between matching </a:t>
            </a:r>
            <a:r>
              <a:rPr kumimoji="0" lang="en-US" altLang="en-US" sz="1800" b="0" i="0" u="none" strike="noStrike" cap="none" normalizeH="0" baseline="0" dirty="0" err="1">
                <a:ln>
                  <a:noFill/>
                </a:ln>
                <a:solidFill>
                  <a:schemeClr val="tx1"/>
                </a:solidFill>
                <a:effectLst/>
              </a:rPr>
              <a:t>keypoints</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top_n</a:t>
            </a:r>
            <a:r>
              <a:rPr kumimoji="0" lang="en-US" altLang="en-US" sz="1800" b="0" i="0" u="none" strike="noStrike" cap="none" normalizeH="0" baseline="0" dirty="0">
                <a:ln>
                  <a:noFill/>
                </a:ln>
                <a:solidFill>
                  <a:schemeClr val="tx1"/>
                </a:solidFill>
                <a:effectLst/>
                <a:latin typeface="Arial Unicode MS"/>
              </a:rPr>
              <a:t>=50</a:t>
            </a:r>
            <a:r>
              <a:rPr kumimoji="0" lang="en-US" altLang="en-US" sz="1800" b="0" i="0" u="none" strike="noStrike" cap="none" normalizeH="0" baseline="0" dirty="0">
                <a:ln>
                  <a:noFill/>
                </a:ln>
                <a:solidFill>
                  <a:schemeClr val="tx1"/>
                </a:solidFill>
                <a:effectLst/>
              </a:rPr>
              <a:t>: Displays the top 50 matches by distance.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matplotlib.pyplot</a:t>
            </a:r>
            <a:r>
              <a:rPr kumimoji="0" lang="en-US" altLang="en-US" sz="1800" b="0" i="0" u="none" strike="noStrike" cap="none" normalizeH="0" baseline="0" dirty="0">
                <a:ln>
                  <a:noFill/>
                </a:ln>
                <a:solidFill>
                  <a:schemeClr val="tx1"/>
                </a:solidFill>
                <a:effectLst/>
              </a:rPr>
              <a:t>: Used for clear visual representation.</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Enables visual inspection of </a:t>
            </a:r>
            <a:r>
              <a:rPr kumimoji="0" lang="en-US" altLang="en-US" sz="1800" b="0" i="0" u="none" strike="noStrike" cap="none" normalizeH="0" baseline="0" dirty="0" err="1">
                <a:ln>
                  <a:noFill/>
                </a:ln>
                <a:solidFill>
                  <a:schemeClr val="tx1"/>
                </a:solidFill>
                <a:effectLst/>
                <a:latin typeface="Arial" panose="020B0604020202020204" pitchFamily="34" charset="0"/>
              </a:rPr>
              <a:t>keypoint</a:t>
            </a:r>
            <a:r>
              <a:rPr kumimoji="0" lang="en-US" altLang="en-US" sz="1800" b="0" i="0" u="none" strike="noStrike" cap="none" normalizeH="0" baseline="0" dirty="0">
                <a:ln>
                  <a:noFill/>
                </a:ln>
                <a:solidFill>
                  <a:schemeClr val="tx1"/>
                </a:solidFill>
                <a:effectLst/>
                <a:latin typeface="Arial" panose="020B0604020202020204" pitchFamily="34" charset="0"/>
              </a:rPr>
              <a:t> correspondences to validate feature similarity between image pairs.</a:t>
            </a:r>
          </a:p>
        </p:txBody>
      </p:sp>
    </p:spTree>
    <p:extLst>
      <p:ext uri="{BB962C8B-B14F-4D97-AF65-F5344CB8AC3E}">
        <p14:creationId xmlns:p14="http://schemas.microsoft.com/office/powerpoint/2010/main" val="2107279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79E13-1584-65BB-6EA5-5E7F7C231EAD}"/>
              </a:ext>
            </a:extLst>
          </p:cNvPr>
          <p:cNvSpPr>
            <a:spLocks noGrp="1"/>
          </p:cNvSpPr>
          <p:nvPr>
            <p:ph type="title"/>
          </p:nvPr>
        </p:nvSpPr>
        <p:spPr>
          <a:xfrm>
            <a:off x="2956562" y="91439"/>
            <a:ext cx="8404448" cy="883919"/>
          </a:xfrm>
        </p:spPr>
        <p:txBody>
          <a:bodyPr/>
          <a:lstStyle/>
          <a:p>
            <a:r>
              <a:rPr lang="en-US" dirty="0"/>
              <a:t>ORB Matching Across Image Folder</a:t>
            </a:r>
            <a:endParaRPr lang="en-IN" dirty="0"/>
          </a:p>
        </p:txBody>
      </p:sp>
      <p:sp>
        <p:nvSpPr>
          <p:cNvPr id="5" name="Rectangle 1">
            <a:extLst>
              <a:ext uri="{FF2B5EF4-FFF2-40B4-BE49-F238E27FC236}">
                <a16:creationId xmlns:a16="http://schemas.microsoft.com/office/drawing/2014/main" id="{3447FF2C-A2C2-CFCD-07BD-BAC54BFE8A4D}"/>
              </a:ext>
            </a:extLst>
          </p:cNvPr>
          <p:cNvSpPr>
            <a:spLocks noGrp="1" noChangeArrowheads="1"/>
          </p:cNvSpPr>
          <p:nvPr>
            <p:ph idx="15"/>
          </p:nvPr>
        </p:nvSpPr>
        <p:spPr bwMode="auto">
          <a:xfrm>
            <a:off x="4785360" y="989330"/>
            <a:ext cx="72136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Automate feature extraction and matching between the first two images in a folder.</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Image Collection: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Unicode MS"/>
              </a:rPr>
              <a:t>glob.glob</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Retrieves </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err="1">
                <a:ln>
                  <a:noFill/>
                </a:ln>
                <a:solidFill>
                  <a:schemeClr val="tx1"/>
                </a:solidFill>
                <a:effectLst/>
                <a:latin typeface="Arial Unicode MS"/>
              </a:rPr>
              <a:t>png</a:t>
            </a:r>
            <a:r>
              <a:rPr kumimoji="0" lang="en-US" altLang="en-US" sz="1800" b="0" i="0" u="none" strike="noStrike" cap="none" normalizeH="0" baseline="0" dirty="0">
                <a:ln>
                  <a:noFill/>
                </a:ln>
                <a:solidFill>
                  <a:schemeClr val="tx1"/>
                </a:solidFill>
                <a:effectLst/>
              </a:rPr>
              <a:t> files from the folder.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sorted(...)</a:t>
            </a:r>
            <a:r>
              <a:rPr kumimoji="0" lang="en-US" altLang="en-US" sz="1800" b="0" i="0" u="none" strike="noStrike" cap="none" normalizeH="0" baseline="0" dirty="0">
                <a:ln>
                  <a:noFill/>
                </a:ln>
                <a:solidFill>
                  <a:schemeClr val="tx1"/>
                </a:solidFill>
                <a:effectLst/>
              </a:rPr>
              <a:t>: Ensures consistent order of image pairs.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Validation: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Checks for minimum 2 images.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Skips matching if ORB descriptors are missing.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Process Flow: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Load first two images.</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Extract ORB </a:t>
            </a:r>
            <a:r>
              <a:rPr kumimoji="0" lang="en-US" altLang="en-US" sz="1800" b="0" i="0" u="none" strike="noStrike" cap="none" normalizeH="0" baseline="0" dirty="0" err="1">
                <a:ln>
                  <a:noFill/>
                </a:ln>
                <a:solidFill>
                  <a:schemeClr val="tx1"/>
                </a:solidFill>
                <a:effectLst/>
                <a:latin typeface="Arial" panose="020B0604020202020204" pitchFamily="34" charset="0"/>
              </a:rPr>
              <a:t>keypoints</a:t>
            </a:r>
            <a:r>
              <a:rPr kumimoji="0" lang="en-US" altLang="en-US" sz="1800" b="0" i="0" u="none" strike="noStrike" cap="none" normalizeH="0" baseline="0" dirty="0">
                <a:ln>
                  <a:noFill/>
                </a:ln>
                <a:solidFill>
                  <a:schemeClr val="tx1"/>
                </a:solidFill>
                <a:effectLst/>
                <a:latin typeface="Arial" panose="020B0604020202020204" pitchFamily="34" charset="0"/>
              </a:rPr>
              <a:t> and descriptors.</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Match features using Hamming distance.</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Visualize top matches.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Prints number of matches.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matching </a:t>
            </a:r>
            <a:r>
              <a:rPr kumimoji="0" lang="en-US" altLang="en-US" sz="1800" b="0" i="0" u="none" strike="noStrike" cap="none" normalizeH="0" baseline="0" dirty="0" err="1">
                <a:ln>
                  <a:noFill/>
                </a:ln>
                <a:solidFill>
                  <a:schemeClr val="tx1"/>
                </a:solidFill>
                <a:effectLst/>
                <a:latin typeface="Arial" panose="020B0604020202020204" pitchFamily="34" charset="0"/>
              </a:rPr>
              <a:t>keypoints</a:t>
            </a:r>
            <a:r>
              <a:rPr kumimoji="0" lang="en-US" altLang="en-US" sz="1800" b="0" i="0" u="none" strike="noStrike" cap="none" normalizeH="0" baseline="0" dirty="0">
                <a:ln>
                  <a:noFill/>
                </a:ln>
                <a:solidFill>
                  <a:schemeClr val="tx1"/>
                </a:solidFill>
                <a:effectLst/>
                <a:latin typeface="Arial" panose="020B0604020202020204" pitchFamily="34" charset="0"/>
              </a:rPr>
              <a:t> visually for manual inspection.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359A966-43EE-0222-2364-E3B57BB8A738}"/>
              </a:ext>
            </a:extLst>
          </p:cNvPr>
          <p:cNvPicPr>
            <a:picLocks noChangeAspect="1"/>
          </p:cNvPicPr>
          <p:nvPr/>
        </p:nvPicPr>
        <p:blipFill>
          <a:blip r:embed="rId2"/>
          <a:stretch>
            <a:fillRect/>
          </a:stretch>
        </p:blipFill>
        <p:spPr>
          <a:xfrm>
            <a:off x="142240" y="1496061"/>
            <a:ext cx="4643120" cy="2636348"/>
          </a:xfrm>
          <a:prstGeom prst="rect">
            <a:avLst/>
          </a:prstGeom>
        </p:spPr>
      </p:pic>
    </p:spTree>
    <p:extLst>
      <p:ext uri="{BB962C8B-B14F-4D97-AF65-F5344CB8AC3E}">
        <p14:creationId xmlns:p14="http://schemas.microsoft.com/office/powerpoint/2010/main" val="806638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035F1-434E-952B-7244-66C80CEC51E0}"/>
              </a:ext>
            </a:extLst>
          </p:cNvPr>
          <p:cNvSpPr>
            <a:spLocks noGrp="1"/>
          </p:cNvSpPr>
          <p:nvPr>
            <p:ph type="title"/>
          </p:nvPr>
        </p:nvSpPr>
        <p:spPr>
          <a:xfrm>
            <a:off x="2052319" y="81640"/>
            <a:ext cx="9743440" cy="1198878"/>
          </a:xfrm>
        </p:spPr>
        <p:txBody>
          <a:bodyPr/>
          <a:lstStyle/>
          <a:p>
            <a:r>
              <a:rPr lang="en-US" dirty="0"/>
              <a:t>Function Execution on Image Folders</a:t>
            </a:r>
            <a:endParaRPr lang="en-IN" dirty="0"/>
          </a:p>
        </p:txBody>
      </p:sp>
      <p:sp>
        <p:nvSpPr>
          <p:cNvPr id="5" name="Rectangle 1">
            <a:extLst>
              <a:ext uri="{FF2B5EF4-FFF2-40B4-BE49-F238E27FC236}">
                <a16:creationId xmlns:a16="http://schemas.microsoft.com/office/drawing/2014/main" id="{E654F4DB-F104-02F8-32FD-EC1106048E76}"/>
              </a:ext>
            </a:extLst>
          </p:cNvPr>
          <p:cNvSpPr>
            <a:spLocks noGrp="1" noChangeArrowheads="1"/>
          </p:cNvSpPr>
          <p:nvPr>
            <p:ph idx="15"/>
          </p:nvPr>
        </p:nvSpPr>
        <p:spPr bwMode="auto">
          <a:xfrm>
            <a:off x="4033520" y="1371173"/>
            <a:ext cx="835152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Run ORB-based matching pipeline on different image datasets to evaluate similarity and structure.</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Function Used:</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err="1">
                <a:ln>
                  <a:noFill/>
                </a:ln>
                <a:solidFill>
                  <a:schemeClr val="tx1"/>
                </a:solidFill>
                <a:effectLst/>
                <a:latin typeface="Arial Unicode MS"/>
              </a:rPr>
              <a:t>match_images_in_folder</a:t>
            </a:r>
            <a:r>
              <a:rPr kumimoji="0" lang="en-US" altLang="en-US" sz="1800" b="0" i="0" u="none" strike="noStrike" cap="none" normalizeH="0" baseline="0" dirty="0">
                <a:ln>
                  <a:noFill/>
                </a:ln>
                <a:solidFill>
                  <a:schemeClr val="tx1"/>
                </a:solidFill>
                <a:effectLst/>
                <a:latin typeface="Arial Unicode MS"/>
              </a:rPr>
              <a:t>(&lt;</a:t>
            </a:r>
            <a:r>
              <a:rPr kumimoji="0" lang="en-US" altLang="en-US" sz="1800" b="0" i="0" u="none" strike="noStrike" cap="none" normalizeH="0" baseline="0" dirty="0" err="1">
                <a:ln>
                  <a:noFill/>
                </a:ln>
                <a:solidFill>
                  <a:schemeClr val="tx1"/>
                </a:solidFill>
                <a:effectLst/>
                <a:latin typeface="Arial Unicode MS"/>
              </a:rPr>
              <a:t>folder_path</a:t>
            </a:r>
            <a:r>
              <a:rPr kumimoji="0" lang="en-US" altLang="en-US" sz="1800" b="0" i="0" u="none" strike="noStrike" cap="none" normalizeH="0" baseline="0" dirty="0">
                <a:ln>
                  <a:noFill/>
                </a:ln>
                <a:solidFill>
                  <a:schemeClr val="tx1"/>
                </a:solidFill>
                <a:effectLst/>
                <a:latin typeface="Arial Unicode MS"/>
              </a:rPr>
              <a:t>&gt;)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Executed 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'data/test/stairs/'</a:t>
            </a:r>
            <a:r>
              <a:rPr kumimoji="0" lang="en-US" altLang="en-US" sz="1800" b="0" i="0" u="none" strike="noStrike" cap="none" normalizeH="0" baseline="0" dirty="0">
                <a:ln>
                  <a:noFill/>
                </a:ln>
                <a:solidFill>
                  <a:schemeClr val="tx1"/>
                </a:solidFill>
                <a:effectLst/>
              </a:rPr>
              <a:t> → Tests image similarity in the </a:t>
            </a:r>
            <a:r>
              <a:rPr kumimoji="0" lang="en-US" altLang="en-US" sz="1800" b="0" i="1" u="none" strike="noStrike" cap="none" normalizeH="0" baseline="0" dirty="0">
                <a:ln>
                  <a:noFill/>
                </a:ln>
                <a:solidFill>
                  <a:schemeClr val="tx1"/>
                </a:solidFill>
                <a:effectLst/>
                <a:latin typeface="Arial" panose="020B0604020202020204" pitchFamily="34" charset="0"/>
              </a:rPr>
              <a:t>stairs</a:t>
            </a:r>
            <a:r>
              <a:rPr kumimoji="0" lang="en-US" altLang="en-US" sz="1800" b="0" i="0" u="none" strike="noStrike" cap="none" normalizeH="0" baseline="0" dirty="0">
                <a:ln>
                  <a:noFill/>
                </a:ln>
                <a:solidFill>
                  <a:schemeClr val="tx1"/>
                </a:solidFill>
                <a:effectLst/>
                <a:latin typeface="Arial" panose="020B0604020202020204" pitchFamily="34" charset="0"/>
              </a:rPr>
              <a:t> test set.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'data/test/ETs/'</a:t>
            </a:r>
            <a:r>
              <a:rPr kumimoji="0" lang="en-US" altLang="en-US" sz="1800" b="0" i="0" u="none" strike="noStrike" cap="none" normalizeH="0" baseline="0" dirty="0">
                <a:ln>
                  <a:noFill/>
                </a:ln>
                <a:solidFill>
                  <a:schemeClr val="tx1"/>
                </a:solidFill>
                <a:effectLst/>
              </a:rPr>
              <a:t> → Tests feature consistency in the </a:t>
            </a:r>
            <a:r>
              <a:rPr kumimoji="0" lang="en-US" altLang="en-US" sz="1800" b="0" i="1" u="none" strike="noStrike" cap="none" normalizeH="0" baseline="0" dirty="0">
                <a:ln>
                  <a:noFill/>
                </a:ln>
                <a:solidFill>
                  <a:schemeClr val="tx1"/>
                </a:solidFill>
                <a:effectLst/>
                <a:latin typeface="Arial" panose="020B0604020202020204" pitchFamily="34" charset="0"/>
              </a:rPr>
              <a:t>ETs</a:t>
            </a:r>
            <a:r>
              <a:rPr kumimoji="0" lang="en-US" altLang="en-US" sz="1800" b="0" i="0" u="none" strike="noStrike" cap="none" normalizeH="0" baseline="0" dirty="0">
                <a:ln>
                  <a:noFill/>
                </a:ln>
                <a:solidFill>
                  <a:schemeClr val="tx1"/>
                </a:solidFill>
                <a:effectLst/>
                <a:latin typeface="Arial" panose="020B0604020202020204" pitchFamily="34" charset="0"/>
              </a:rPr>
              <a:t> test set.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Unicode MS"/>
              </a:rPr>
              <a:t>'data/train/</a:t>
            </a:r>
            <a:r>
              <a:rPr kumimoji="0" lang="en-US" altLang="en-US" sz="1800" b="0" i="0" u="none" strike="noStrike" cap="none" normalizeH="0" baseline="0" dirty="0" err="1">
                <a:ln>
                  <a:noFill/>
                </a:ln>
                <a:solidFill>
                  <a:schemeClr val="tx1"/>
                </a:solidFill>
                <a:effectLst/>
                <a:latin typeface="Arial Unicode MS"/>
              </a:rPr>
              <a:t>amy_gardens</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a:ln>
                  <a:noFill/>
                </a:ln>
                <a:solidFill>
                  <a:schemeClr val="tx1"/>
                </a:solidFill>
                <a:effectLst/>
              </a:rPr>
              <a:t> → Tests generalization on a different training subset.</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Outcome: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top ORB matches between the first two images in each directory.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visually verify spatial and structural similarity across same-class images.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6" name="Group 15">
            <a:extLst>
              <a:ext uri="{FF2B5EF4-FFF2-40B4-BE49-F238E27FC236}">
                <a16:creationId xmlns:a16="http://schemas.microsoft.com/office/drawing/2014/main" id="{50CA1264-098C-67F4-64AB-D20C54976A5C}"/>
              </a:ext>
            </a:extLst>
          </p:cNvPr>
          <p:cNvGrpSpPr/>
          <p:nvPr/>
        </p:nvGrpSpPr>
        <p:grpSpPr>
          <a:xfrm>
            <a:off x="71120" y="2062053"/>
            <a:ext cx="3962400" cy="1067227"/>
            <a:chOff x="78382" y="1432133"/>
            <a:chExt cx="5106114" cy="1586245"/>
          </a:xfrm>
        </p:grpSpPr>
        <p:pic>
          <p:nvPicPr>
            <p:cNvPr id="11" name="Picture 10">
              <a:extLst>
                <a:ext uri="{FF2B5EF4-FFF2-40B4-BE49-F238E27FC236}">
                  <a16:creationId xmlns:a16="http://schemas.microsoft.com/office/drawing/2014/main" id="{9798BA11-3EE7-3F04-EE38-DFCBF7F2C07E}"/>
                </a:ext>
              </a:extLst>
            </p:cNvPr>
            <p:cNvPicPr>
              <a:picLocks noChangeAspect="1"/>
            </p:cNvPicPr>
            <p:nvPr/>
          </p:nvPicPr>
          <p:blipFill>
            <a:blip r:embed="rId2"/>
            <a:stretch>
              <a:fillRect/>
            </a:stretch>
          </p:blipFill>
          <p:spPr>
            <a:xfrm>
              <a:off x="78383" y="1432133"/>
              <a:ext cx="5106113" cy="562053"/>
            </a:xfrm>
            <a:prstGeom prst="rect">
              <a:avLst/>
            </a:prstGeom>
          </p:spPr>
        </p:pic>
        <p:pic>
          <p:nvPicPr>
            <p:cNvPr id="13" name="Picture 12">
              <a:extLst>
                <a:ext uri="{FF2B5EF4-FFF2-40B4-BE49-F238E27FC236}">
                  <a16:creationId xmlns:a16="http://schemas.microsoft.com/office/drawing/2014/main" id="{84F14FA6-FC67-BFCC-6B6E-94847A5C6355}"/>
                </a:ext>
              </a:extLst>
            </p:cNvPr>
            <p:cNvPicPr>
              <a:picLocks noChangeAspect="1"/>
            </p:cNvPicPr>
            <p:nvPr/>
          </p:nvPicPr>
          <p:blipFill>
            <a:blip r:embed="rId3"/>
            <a:stretch>
              <a:fillRect/>
            </a:stretch>
          </p:blipFill>
          <p:spPr>
            <a:xfrm>
              <a:off x="78382" y="1973441"/>
              <a:ext cx="5106113" cy="514422"/>
            </a:xfrm>
            <a:prstGeom prst="rect">
              <a:avLst/>
            </a:prstGeom>
          </p:spPr>
        </p:pic>
        <p:pic>
          <p:nvPicPr>
            <p:cNvPr id="15" name="Picture 14">
              <a:extLst>
                <a:ext uri="{FF2B5EF4-FFF2-40B4-BE49-F238E27FC236}">
                  <a16:creationId xmlns:a16="http://schemas.microsoft.com/office/drawing/2014/main" id="{4E60BD7D-054C-728E-1EFE-4F2B6B52E578}"/>
                </a:ext>
              </a:extLst>
            </p:cNvPr>
            <p:cNvPicPr>
              <a:picLocks noChangeAspect="1"/>
            </p:cNvPicPr>
            <p:nvPr/>
          </p:nvPicPr>
          <p:blipFill>
            <a:blip r:embed="rId4"/>
            <a:stretch>
              <a:fillRect/>
            </a:stretch>
          </p:blipFill>
          <p:spPr>
            <a:xfrm>
              <a:off x="78382" y="2446798"/>
              <a:ext cx="5106113" cy="571580"/>
            </a:xfrm>
            <a:prstGeom prst="rect">
              <a:avLst/>
            </a:prstGeom>
          </p:spPr>
        </p:pic>
      </p:grpSp>
    </p:spTree>
    <p:extLst>
      <p:ext uri="{BB962C8B-B14F-4D97-AF65-F5344CB8AC3E}">
        <p14:creationId xmlns:p14="http://schemas.microsoft.com/office/powerpoint/2010/main" val="3355249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57940-25F5-3032-D20F-1551AB163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12296-DD47-38F7-0333-AA6E33DF0415}"/>
              </a:ext>
            </a:extLst>
          </p:cNvPr>
          <p:cNvSpPr>
            <a:spLocks noGrp="1"/>
          </p:cNvSpPr>
          <p:nvPr>
            <p:ph type="title"/>
          </p:nvPr>
        </p:nvSpPr>
        <p:spPr>
          <a:xfrm>
            <a:off x="908598" y="1098322"/>
            <a:ext cx="5486398" cy="868679"/>
          </a:xfrm>
        </p:spPr>
        <p:txBody>
          <a:bodyPr/>
          <a:lstStyle/>
          <a:p>
            <a:r>
              <a:rPr lang="en-IN" dirty="0"/>
              <a:t>Key Challenges</a:t>
            </a:r>
          </a:p>
        </p:txBody>
      </p:sp>
      <p:sp>
        <p:nvSpPr>
          <p:cNvPr id="11" name="Rectangle 4">
            <a:extLst>
              <a:ext uri="{FF2B5EF4-FFF2-40B4-BE49-F238E27FC236}">
                <a16:creationId xmlns:a16="http://schemas.microsoft.com/office/drawing/2014/main" id="{C85F4EF0-E66E-2A27-29EA-58FC201DD258}"/>
              </a:ext>
            </a:extLst>
          </p:cNvPr>
          <p:cNvSpPr>
            <a:spLocks noChangeArrowheads="1"/>
          </p:cNvSpPr>
          <p:nvPr/>
        </p:nvSpPr>
        <p:spPr bwMode="auto">
          <a:xfrm>
            <a:off x="557658" y="2358124"/>
            <a:ext cx="1002100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Arial" panose="020B0604020202020204" pitchFamily="34" charset="0"/>
              <a:buChar char="•"/>
            </a:pPr>
            <a:r>
              <a:rPr lang="en-US" sz="2000" dirty="0"/>
              <a:t>Sensitive to noise or texture less regions.</a:t>
            </a:r>
          </a:p>
          <a:p>
            <a:pPr marL="342900" indent="-342900" eaLnBrk="0" fontAlgn="base" hangingPunct="0">
              <a:spcBef>
                <a:spcPct val="0"/>
              </a:spcBef>
              <a:spcAft>
                <a:spcPct val="0"/>
              </a:spcAft>
              <a:buFont typeface="Arial" panose="020B0604020202020204" pitchFamily="34" charset="0"/>
              <a:buChar char="•"/>
            </a:pPr>
            <a:endParaRPr lang="en-US" sz="2000" dirty="0"/>
          </a:p>
          <a:p>
            <a:pPr marL="342900" indent="-342900" eaLnBrk="0" fontAlgn="base" hangingPunct="0">
              <a:spcBef>
                <a:spcPct val="0"/>
              </a:spcBef>
              <a:spcAft>
                <a:spcPct val="0"/>
              </a:spcAft>
              <a:buFont typeface="Arial" panose="020B0604020202020204" pitchFamily="34" charset="0"/>
              <a:buChar char="•"/>
            </a:pPr>
            <a:r>
              <a:rPr lang="en-US" sz="2000" dirty="0"/>
              <a:t>Works less effectively under extreme transformations</a:t>
            </a:r>
          </a:p>
          <a:p>
            <a:pPr marL="342900" indent="-342900" eaLnBrk="0" fontAlgn="base" hangingPunct="0">
              <a:spcBef>
                <a:spcPct val="0"/>
              </a:spcBef>
              <a:spcAft>
                <a:spcPct val="0"/>
              </a:spcAft>
              <a:buFont typeface="Arial" panose="020B0604020202020204" pitchFamily="34" charset="0"/>
              <a:buChar char="•"/>
            </a:pPr>
            <a:endParaRPr lang="en-US" sz="2000" dirty="0"/>
          </a:p>
          <a:p>
            <a:pPr marL="342900" indent="-342900" eaLnBrk="0" fontAlgn="base" hangingPunct="0">
              <a:spcBef>
                <a:spcPct val="0"/>
              </a:spcBef>
              <a:spcAft>
                <a:spcPct val="0"/>
              </a:spcAft>
              <a:buFont typeface="Arial" panose="020B0604020202020204" pitchFamily="34" charset="0"/>
              <a:buChar char="•"/>
            </a:pPr>
            <a:r>
              <a:rPr lang="en-US" sz="2000" dirty="0"/>
              <a:t>No use of geometric verification (like RANSAC) in current pipeline</a:t>
            </a:r>
          </a:p>
        </p:txBody>
      </p:sp>
    </p:spTree>
    <p:extLst>
      <p:ext uri="{BB962C8B-B14F-4D97-AF65-F5344CB8AC3E}">
        <p14:creationId xmlns:p14="http://schemas.microsoft.com/office/powerpoint/2010/main" val="121932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226D7-4CC2-5041-09E3-C97941DFFC2F}"/>
              </a:ext>
            </a:extLst>
          </p:cNvPr>
          <p:cNvSpPr>
            <a:spLocks noGrp="1"/>
          </p:cNvSpPr>
          <p:nvPr>
            <p:ph type="title"/>
          </p:nvPr>
        </p:nvSpPr>
        <p:spPr>
          <a:xfrm>
            <a:off x="1095364" y="832272"/>
            <a:ext cx="9779183" cy="655804"/>
          </a:xfrm>
        </p:spPr>
        <p:txBody>
          <a:bodyPr/>
          <a:lstStyle/>
          <a:p>
            <a:r>
              <a:rPr lang="en-IN" dirty="0"/>
              <a:t>Alternative Methods</a:t>
            </a:r>
          </a:p>
        </p:txBody>
      </p:sp>
      <p:sp>
        <p:nvSpPr>
          <p:cNvPr id="4" name="TextBox 3">
            <a:extLst>
              <a:ext uri="{FF2B5EF4-FFF2-40B4-BE49-F238E27FC236}">
                <a16:creationId xmlns:a16="http://schemas.microsoft.com/office/drawing/2014/main" id="{7D84017B-4EAB-2F14-7CB5-FD090BE3C5F2}"/>
              </a:ext>
            </a:extLst>
          </p:cNvPr>
          <p:cNvSpPr txBox="1"/>
          <p:nvPr/>
        </p:nvSpPr>
        <p:spPr>
          <a:xfrm>
            <a:off x="394567" y="1962498"/>
            <a:ext cx="11402865" cy="4247317"/>
          </a:xfrm>
          <a:prstGeom prst="rect">
            <a:avLst/>
          </a:prstGeom>
          <a:noFill/>
        </p:spPr>
        <p:txBody>
          <a:bodyPr wrap="none" rtlCol="0">
            <a:spAutoFit/>
          </a:bodyPr>
          <a:lstStyle/>
          <a:p>
            <a:r>
              <a:rPr lang="en-US" b="1" dirty="0"/>
              <a:t>Classical Feature Matching</a:t>
            </a:r>
            <a:br>
              <a:rPr lang="en-US" dirty="0"/>
            </a:br>
            <a:r>
              <a:rPr lang="en-US" dirty="0"/>
              <a:t>Use </a:t>
            </a:r>
            <a:r>
              <a:rPr lang="en-US" dirty="0" err="1"/>
              <a:t>keypoint</a:t>
            </a:r>
            <a:r>
              <a:rPr lang="en-US" dirty="0"/>
              <a:t> detectors like </a:t>
            </a:r>
            <a:r>
              <a:rPr lang="en-US" b="1" dirty="0"/>
              <a:t>SIFT</a:t>
            </a:r>
            <a:r>
              <a:rPr lang="en-US" dirty="0"/>
              <a:t> or </a:t>
            </a:r>
            <a:r>
              <a:rPr lang="en-US" b="1" dirty="0"/>
              <a:t>ORB</a:t>
            </a:r>
            <a:r>
              <a:rPr lang="en-US" dirty="0"/>
              <a:t> to match features between images. Simple and effective but </a:t>
            </a:r>
          </a:p>
          <a:p>
            <a:r>
              <a:rPr lang="en-US" dirty="0"/>
              <a:t>less robust to viewpoint or lighting changes.</a:t>
            </a:r>
          </a:p>
          <a:p>
            <a:endParaRPr lang="en-US" dirty="0"/>
          </a:p>
          <a:p>
            <a:r>
              <a:rPr lang="en-US" b="1" dirty="0"/>
              <a:t>Deep Learning-Based Matchers</a:t>
            </a:r>
            <a:br>
              <a:rPr lang="en-US" dirty="0"/>
            </a:br>
            <a:r>
              <a:rPr lang="en-US" dirty="0"/>
              <a:t>Models like </a:t>
            </a:r>
            <a:r>
              <a:rPr lang="en-US" b="1" dirty="0" err="1"/>
              <a:t>SuperPoint</a:t>
            </a:r>
            <a:r>
              <a:rPr lang="en-US" b="1" dirty="0"/>
              <a:t> + </a:t>
            </a:r>
            <a:r>
              <a:rPr lang="en-US" b="1" dirty="0" err="1"/>
              <a:t>SuperGlue</a:t>
            </a:r>
            <a:r>
              <a:rPr lang="en-US" dirty="0"/>
              <a:t> offer more accurate matching by combining learned </a:t>
            </a:r>
            <a:r>
              <a:rPr lang="en-US" dirty="0" err="1"/>
              <a:t>keypoints</a:t>
            </a:r>
            <a:r>
              <a:rPr lang="en-US" dirty="0"/>
              <a:t> with context </a:t>
            </a:r>
          </a:p>
          <a:p>
            <a:r>
              <a:rPr lang="en-US" dirty="0"/>
              <a:t>aware matching.</a:t>
            </a:r>
          </a:p>
          <a:p>
            <a:endParaRPr lang="en-US" dirty="0"/>
          </a:p>
          <a:p>
            <a:r>
              <a:rPr lang="en-US" b="1" dirty="0"/>
              <a:t>Image Embedding &amp; Clustering</a:t>
            </a:r>
            <a:br>
              <a:rPr lang="en-US" dirty="0"/>
            </a:br>
            <a:r>
              <a:rPr lang="en-US" dirty="0"/>
              <a:t>Use models like </a:t>
            </a:r>
            <a:r>
              <a:rPr lang="en-US" b="1" dirty="0"/>
              <a:t>CLIP</a:t>
            </a:r>
            <a:r>
              <a:rPr lang="en-US" dirty="0"/>
              <a:t> or </a:t>
            </a:r>
            <a:r>
              <a:rPr lang="en-US" b="1" dirty="0"/>
              <a:t>DINO</a:t>
            </a:r>
            <a:r>
              <a:rPr lang="en-US" dirty="0"/>
              <a:t> to convert images into embeddings, then cluster them based on similarity. Fast for </a:t>
            </a:r>
          </a:p>
          <a:p>
            <a:r>
              <a:rPr lang="en-US" dirty="0"/>
              <a:t>large-scale grouping.</a:t>
            </a:r>
          </a:p>
          <a:p>
            <a:endParaRPr lang="en-US" dirty="0"/>
          </a:p>
          <a:p>
            <a:r>
              <a:rPr lang="en-US" b="1" dirty="0"/>
              <a:t>Graph-Based Methods</a:t>
            </a:r>
            <a:br>
              <a:rPr lang="en-US" dirty="0"/>
            </a:br>
            <a:r>
              <a:rPr lang="en-US" dirty="0"/>
              <a:t>Build a graph where images are nodes and similarities are edges. Use clustering algorithms to identify </a:t>
            </a:r>
          </a:p>
          <a:p>
            <a:r>
              <a:rPr lang="en-US" dirty="0"/>
              <a:t>scene groups.</a:t>
            </a:r>
            <a:endParaRPr lang="en-IN" dirty="0"/>
          </a:p>
        </p:txBody>
      </p:sp>
    </p:spTree>
    <p:extLst>
      <p:ext uri="{BB962C8B-B14F-4D97-AF65-F5344CB8AC3E}">
        <p14:creationId xmlns:p14="http://schemas.microsoft.com/office/powerpoint/2010/main" val="549354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B307-F591-DA7D-44E9-F90A2FA3F2D2}"/>
              </a:ext>
            </a:extLst>
          </p:cNvPr>
          <p:cNvSpPr>
            <a:spLocks noGrp="1"/>
          </p:cNvSpPr>
          <p:nvPr>
            <p:ph type="title"/>
          </p:nvPr>
        </p:nvSpPr>
        <p:spPr/>
        <p:txBody>
          <a:bodyPr/>
          <a:lstStyle/>
          <a:p>
            <a:r>
              <a:rPr lang="en-IN" dirty="0"/>
              <a:t>Contribution</a:t>
            </a:r>
          </a:p>
        </p:txBody>
      </p:sp>
      <p:sp>
        <p:nvSpPr>
          <p:cNvPr id="3" name="Content Placeholder 2">
            <a:extLst>
              <a:ext uri="{FF2B5EF4-FFF2-40B4-BE49-F238E27FC236}">
                <a16:creationId xmlns:a16="http://schemas.microsoft.com/office/drawing/2014/main" id="{46CBEE57-A6E3-3B2C-647D-6EB51917BD64}"/>
              </a:ext>
            </a:extLst>
          </p:cNvPr>
          <p:cNvSpPr>
            <a:spLocks noGrp="1"/>
          </p:cNvSpPr>
          <p:nvPr>
            <p:ph idx="12"/>
          </p:nvPr>
        </p:nvSpPr>
        <p:spPr>
          <a:xfrm>
            <a:off x="1167493" y="2023984"/>
            <a:ext cx="10538080" cy="3332832"/>
          </a:xfrm>
        </p:spPr>
        <p:txBody>
          <a:bodyPr/>
          <a:lstStyle/>
          <a:p>
            <a:pPr marL="0" indent="0">
              <a:buNone/>
            </a:pPr>
            <a:r>
              <a:rPr lang="en-IN" dirty="0"/>
              <a:t>Jai Anurag Y and Vaibhav Singla</a:t>
            </a:r>
            <a:br>
              <a:rPr lang="en-IN" dirty="0"/>
            </a:br>
            <a:r>
              <a:rPr lang="en-IN" dirty="0"/>
              <a:t>Both equal contribution </a:t>
            </a:r>
          </a:p>
        </p:txBody>
      </p:sp>
    </p:spTree>
    <p:extLst>
      <p:ext uri="{BB962C8B-B14F-4D97-AF65-F5344CB8AC3E}">
        <p14:creationId xmlns:p14="http://schemas.microsoft.com/office/powerpoint/2010/main" val="1058780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sz="9600" dirty="0">
                <a:latin typeface="Pristina" panose="03060402040406080204" pitchFamily="66" charset="0"/>
              </a:rPr>
              <a:t>Thank you</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2111</TotalTime>
  <Words>2634</Words>
  <Application>Microsoft Office PowerPoint</Application>
  <PresentationFormat>Widescreen</PresentationFormat>
  <Paragraphs>257</Paragraphs>
  <Slides>41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Arial Unicode MS</vt:lpstr>
      <vt:lpstr>Calibri</vt:lpstr>
      <vt:lpstr>Inter</vt:lpstr>
      <vt:lpstr>Pristina</vt:lpstr>
      <vt:lpstr>Tenorite</vt:lpstr>
      <vt:lpstr>Custom</vt:lpstr>
      <vt:lpstr>CS517 Digital Image Processing EndTerm Project Image Matching Challenge </vt:lpstr>
      <vt:lpstr>References</vt:lpstr>
      <vt:lpstr>Problem Statement</vt:lpstr>
      <vt:lpstr>Motivation</vt:lpstr>
      <vt:lpstr>Input Description</vt:lpstr>
      <vt:lpstr>Output Description</vt:lpstr>
      <vt:lpstr>Dataset for Image Matching </vt:lpstr>
      <vt:lpstr>Dataset for Image Matching </vt:lpstr>
      <vt:lpstr>Dataset for Image Matching </vt:lpstr>
      <vt:lpstr>Evaluation Metric Process</vt:lpstr>
      <vt:lpstr>Scoring Metrics – mAA and Clustering Score</vt:lpstr>
      <vt:lpstr>Final Score Computation</vt:lpstr>
      <vt:lpstr>Approaches Used</vt:lpstr>
      <vt:lpstr>Pipeline Summary and Architecture</vt:lpstr>
      <vt:lpstr>Feature Extraction using ORB</vt:lpstr>
      <vt:lpstr>Image Matching using Brute-Force Matcher</vt:lpstr>
      <vt:lpstr>Scene Similarity Analysis</vt:lpstr>
      <vt:lpstr>Clustering with DBSCAN</vt:lpstr>
      <vt:lpstr>Pose Estimation (Planned)</vt:lpstr>
      <vt:lpstr>Evaluation Alignment</vt:lpstr>
      <vt:lpstr>Visualization and Validation</vt:lpstr>
      <vt:lpstr>INBUILT functions used</vt:lpstr>
      <vt:lpstr>cv2.ORB create(nfeatures=1000)</vt:lpstr>
      <vt:lpstr>cv2.ORB create(nfeatures=1000)</vt:lpstr>
      <vt:lpstr>cv2.BFMatcher(cv2.NORM HAMMING, crossCheck=True)</vt:lpstr>
      <vt:lpstr>cv2.BFMatcher(cv2.NORM HAMMING, crossCheck=True)</vt:lpstr>
      <vt:lpstr>RESULTS</vt:lpstr>
      <vt:lpstr>PowerPoint Presentation</vt:lpstr>
      <vt:lpstr>PowerPoint Presentation</vt:lpstr>
      <vt:lpstr>PowerPoint Presentation</vt:lpstr>
      <vt:lpstr>CODE SNIPPETS</vt:lpstr>
      <vt:lpstr>Library Imports &amp;            Directory Setup</vt:lpstr>
      <vt:lpstr>Dataset Image            Count Logging</vt:lpstr>
      <vt:lpstr>Image Loading &amp; ORB Feature Extraction</vt:lpstr>
      <vt:lpstr>ORB Feature Matching &amp;                         Visualization</vt:lpstr>
      <vt:lpstr>ORB Matching Across Image Folder</vt:lpstr>
      <vt:lpstr>Function Execution on Image Folders</vt:lpstr>
      <vt:lpstr>Key Challenges</vt:lpstr>
      <vt:lpstr>Alternative Methods</vt:lpstr>
      <vt:lpstr>Contribution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 Sri Venkata Anurag Yakkala</dc:creator>
  <cp:lastModifiedBy>Jai Sri Venkata Anurag Yakkala</cp:lastModifiedBy>
  <cp:revision>7</cp:revision>
  <dcterms:created xsi:type="dcterms:W3CDTF">2025-05-12T08:53:29Z</dcterms:created>
  <dcterms:modified xsi:type="dcterms:W3CDTF">2025-05-16T12:25:14Z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